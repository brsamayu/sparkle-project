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77247cc25f46d5" /><Relationship Type="http://schemas.openxmlformats.org/officeDocument/2006/relationships/extended-properties" Target="/docProps/app.xml" Id="Rfff20aafddf14419" /><Relationship Type="http://schemas.openxmlformats.org/officeDocument/2006/relationships/officeDocument" Target="/ppt/presentation.xml" Id="R2a6834c5c8ed44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00c467cd004561"/>
  </p:sldMasterIdLst>
  <p:notesMasterIdLst>
    <p:notesMasterId xmlns:r="http://schemas.openxmlformats.org/officeDocument/2006/relationships" r:id="R6cbe89c64cd1476c"/>
  </p:notesMasterIdLst>
  <p:sldIdLst>
    <p:sldId xmlns:r="http://schemas.openxmlformats.org/officeDocument/2006/relationships" id="256" r:id="Raabef2e301c842db"/>
    <p:sldId xmlns:r="http://schemas.openxmlformats.org/officeDocument/2006/relationships" id="257" r:id="R10398f604e8741f0"/>
    <p:sldId xmlns:r="http://schemas.openxmlformats.org/officeDocument/2006/relationships" id="258" r:id="R7407ff6ed8ad42d3"/>
    <p:sldId xmlns:r="http://schemas.openxmlformats.org/officeDocument/2006/relationships" id="259" r:id="R38f8e8d08c66474b"/>
    <p:sldId xmlns:r="http://schemas.openxmlformats.org/officeDocument/2006/relationships" id="260" r:id="R10271182340846f4"/>
    <p:sldId xmlns:r="http://schemas.openxmlformats.org/officeDocument/2006/relationships" id="261" r:id="Rfd6154c739704e61"/>
    <p:sldId xmlns:r="http://schemas.openxmlformats.org/officeDocument/2006/relationships" id="262" r:id="R7fb300fc998e4a79"/>
    <p:sldId xmlns:r="http://schemas.openxmlformats.org/officeDocument/2006/relationships" id="263" r:id="Rbce560bc03a7466d"/>
    <p:sldId xmlns:r="http://schemas.openxmlformats.org/officeDocument/2006/relationships" id="264" r:id="R78f546302cd448f9"/>
    <p:sldId xmlns:r="http://schemas.openxmlformats.org/officeDocument/2006/relationships" id="265" r:id="R50b1d248476c4b53"/>
    <p:sldId xmlns:r="http://schemas.openxmlformats.org/officeDocument/2006/relationships" id="266" r:id="Rde90d53a0c754986"/>
    <p:sldId xmlns:r="http://schemas.openxmlformats.org/officeDocument/2006/relationships" id="267" r:id="Rda9cabb237c74f51"/>
    <p:sldId xmlns:r="http://schemas.openxmlformats.org/officeDocument/2006/relationships" id="268" r:id="Rb8e0aac1fded44b0"/>
    <p:sldId xmlns:r="http://schemas.openxmlformats.org/officeDocument/2006/relationships" id="269" r:id="Rb872890cad1848d5"/>
    <p:sldId xmlns:r="http://schemas.openxmlformats.org/officeDocument/2006/relationships" id="270" r:id="R5405ffc3e03e4aa2"/>
    <p:sldId xmlns:r="http://schemas.openxmlformats.org/officeDocument/2006/relationships" id="271" r:id="R3d610ad7a9d848c6"/>
    <p:sldId xmlns:r="http://schemas.openxmlformats.org/officeDocument/2006/relationships" id="272" r:id="Rf230deb417944ed8"/>
    <p:sldId xmlns:r="http://schemas.openxmlformats.org/officeDocument/2006/relationships" id="273" r:id="R6e3dcdc0a0d040e1"/>
    <p:sldId xmlns:r="http://schemas.openxmlformats.org/officeDocument/2006/relationships" id="274" r:id="Rd80c94d621fb4ee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00c467cd004561" /><Relationship Type="http://schemas.openxmlformats.org/officeDocument/2006/relationships/theme" Target="/ppt/theme/theme1.xml" Id="Rf0457f1e9eb445c7" /><Relationship Type="http://schemas.openxmlformats.org/officeDocument/2006/relationships/notesMaster" Target="/ppt/notesMasters/notesMaster1.xml" Id="R6cbe89c64cd1476c" /><Relationship Type="http://schemas.openxmlformats.org/officeDocument/2006/relationships/presProps" Target="/ppt/presProps.xml" Id="Raeea17b8f2e946b1" /><Relationship Type="http://schemas.openxmlformats.org/officeDocument/2006/relationships/viewProps" Target="/ppt/viewProps.xml" Id="Rabd2bc409708402c" /><Relationship Type="http://schemas.openxmlformats.org/officeDocument/2006/relationships/tableStyles" Target="/ppt/tableStyles.xml" Id="R11b9e0cfe5eb4baf" /><Relationship Type="http://schemas.openxmlformats.org/officeDocument/2006/relationships/slide" Target="/ppt/slides/slide1.xml" Id="Raabef2e301c842db" /><Relationship Type="http://schemas.openxmlformats.org/officeDocument/2006/relationships/slide" Target="/ppt/slides/slide2.xml" Id="R10398f604e8741f0" /><Relationship Type="http://schemas.openxmlformats.org/officeDocument/2006/relationships/slide" Target="/ppt/slides/slide3.xml" Id="R7407ff6ed8ad42d3" /><Relationship Type="http://schemas.openxmlformats.org/officeDocument/2006/relationships/slide" Target="/ppt/slides/slide4.xml" Id="R38f8e8d08c66474b" /><Relationship Type="http://schemas.openxmlformats.org/officeDocument/2006/relationships/slide" Target="/ppt/slides/slide5.xml" Id="R10271182340846f4" /><Relationship Type="http://schemas.openxmlformats.org/officeDocument/2006/relationships/slide" Target="/ppt/slides/slide6.xml" Id="Rfd6154c739704e61" /><Relationship Type="http://schemas.openxmlformats.org/officeDocument/2006/relationships/slide" Target="/ppt/slides/slide7.xml" Id="R7fb300fc998e4a79" /><Relationship Type="http://schemas.openxmlformats.org/officeDocument/2006/relationships/slide" Target="/ppt/slides/slide8.xml" Id="Rbce560bc03a7466d" /><Relationship Type="http://schemas.openxmlformats.org/officeDocument/2006/relationships/slide" Target="/ppt/slides/slide9.xml" Id="R78f546302cd448f9" /><Relationship Type="http://schemas.openxmlformats.org/officeDocument/2006/relationships/slide" Target="/ppt/slides/slide10.xml" Id="R50b1d248476c4b53" /><Relationship Type="http://schemas.openxmlformats.org/officeDocument/2006/relationships/slide" Target="/ppt/slides/slide11.xml" Id="Rde90d53a0c754986" /><Relationship Type="http://schemas.openxmlformats.org/officeDocument/2006/relationships/slide" Target="/ppt/slides/slide12.xml" Id="Rda9cabb237c74f51" /><Relationship Type="http://schemas.openxmlformats.org/officeDocument/2006/relationships/slide" Target="/ppt/slides/slide13.xml" Id="Rb8e0aac1fded44b0" /><Relationship Type="http://schemas.openxmlformats.org/officeDocument/2006/relationships/slide" Target="/ppt/slides/slide14.xml" Id="Rb872890cad1848d5" /><Relationship Type="http://schemas.openxmlformats.org/officeDocument/2006/relationships/slide" Target="/ppt/slides/slide15.xml" Id="R5405ffc3e03e4aa2" /><Relationship Type="http://schemas.openxmlformats.org/officeDocument/2006/relationships/slide" Target="/ppt/slides/slide16.xml" Id="R3d610ad7a9d848c6" /><Relationship Type="http://schemas.openxmlformats.org/officeDocument/2006/relationships/slide" Target="/ppt/slides/slide17.xml" Id="Rf230deb417944ed8" /><Relationship Type="http://schemas.openxmlformats.org/officeDocument/2006/relationships/slide" Target="/ppt/slides/slide18.xml" Id="R6e3dcdc0a0d040e1" /><Relationship Type="http://schemas.openxmlformats.org/officeDocument/2006/relationships/slide" Target="/ppt/slides/slide19.xml" Id="Rd80c94d621fb4e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72a4572ee474e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ddd5dfe30b4c24" /><Relationship Type="http://schemas.openxmlformats.org/officeDocument/2006/relationships/notesMaster" Target="/ppt/notesMasters/notesMaster1.xml" Id="Rb0d3ee95cdfe42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87901187764bd9" /><Relationship Type="http://schemas.openxmlformats.org/officeDocument/2006/relationships/notesMaster" Target="/ppt/notesMasters/notesMaster1.xml" Id="Rff52855a15bd45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8b0819865a4e30" /><Relationship Type="http://schemas.openxmlformats.org/officeDocument/2006/relationships/notesMaster" Target="/ppt/notesMasters/notesMaster1.xml" Id="R295f18e82f9d4e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38e9f01a064ec7" /><Relationship Type="http://schemas.openxmlformats.org/officeDocument/2006/relationships/notesMaster" Target="/ppt/notesMasters/notesMaster1.xml" Id="Rd82edc09a5cc4d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004229a2b442a9" /><Relationship Type="http://schemas.openxmlformats.org/officeDocument/2006/relationships/notesMaster" Target="/ppt/notesMasters/notesMaster1.xml" Id="R4012c041917a4d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8547e951ef4eae" /><Relationship Type="http://schemas.openxmlformats.org/officeDocument/2006/relationships/notesMaster" Target="/ppt/notesMasters/notesMaster1.xml" Id="R64b389423b9f42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abd9bab48b476d" /><Relationship Type="http://schemas.openxmlformats.org/officeDocument/2006/relationships/notesMaster" Target="/ppt/notesMasters/notesMaster1.xml" Id="Refb9dd73933249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d5e17d2869414a" /><Relationship Type="http://schemas.openxmlformats.org/officeDocument/2006/relationships/notesMaster" Target="/ppt/notesMasters/notesMaster1.xml" Id="R58ca357b56d24a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ad6997d948497d" /><Relationship Type="http://schemas.openxmlformats.org/officeDocument/2006/relationships/notesMaster" Target="/ppt/notesMasters/notesMaster1.xml" Id="R6457ed7ac6464e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ebb0c70dfb48ec" /><Relationship Type="http://schemas.openxmlformats.org/officeDocument/2006/relationships/notesMaster" Target="/ppt/notesMasters/notesMaster1.xml" Id="Rd895f665f69c46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da93a92c494175" /><Relationship Type="http://schemas.openxmlformats.org/officeDocument/2006/relationships/notesMaster" Target="/ppt/notesMasters/notesMaster1.xml" Id="R1c29d6cc1be94a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aa51b3040049ec" /><Relationship Type="http://schemas.openxmlformats.org/officeDocument/2006/relationships/notesMaster" Target="/ppt/notesMasters/notesMaster1.xml" Id="R75b3113a51d140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fbfa612227465c" /><Relationship Type="http://schemas.openxmlformats.org/officeDocument/2006/relationships/notesMaster" Target="/ppt/notesMasters/notesMaster1.xml" Id="R4dc1747db63b49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1571183d5c4a3f" /><Relationship Type="http://schemas.openxmlformats.org/officeDocument/2006/relationships/notesMaster" Target="/ppt/notesMasters/notesMaster1.xml" Id="R66dd39eedaee478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3738f3d689a4a9b" /><Relationship Type="http://schemas.openxmlformats.org/officeDocument/2006/relationships/notesMaster" Target="/ppt/notesMasters/notesMaster1.xml" Id="R88ac4a3d34d24eb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2128d21c92541ec" /><Relationship Type="http://schemas.openxmlformats.org/officeDocument/2006/relationships/notesMaster" Target="/ppt/notesMasters/notesMaster1.xml" Id="Rce9e96317d63411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e8b04027c7b4d21" /><Relationship Type="http://schemas.openxmlformats.org/officeDocument/2006/relationships/notesMaster" Target="/ppt/notesMasters/notesMaster1.xml" Id="R6be973ba873b4b5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dcdc63b6a8d49bd" /><Relationship Type="http://schemas.openxmlformats.org/officeDocument/2006/relationships/notesMaster" Target="/ppt/notesMasters/notesMaster1.xml" Id="Rc6c4e8c07e394e0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9fd3d539d2047ad" /><Relationship Type="http://schemas.openxmlformats.org/officeDocument/2006/relationships/notesMaster" Target="/ppt/notesMasters/notesMaster1.xml" Id="R19f4262bb7a34e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25s。开场不要解释产品全貌，直接把评委拉进场景：一个学生 7 天后考计算机网络，基本没学。普通 AI 能答题，但这类场景真正难的是目标决策。过渡：为什么 AI 越来越强，学生离目标却没有更近？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40s。先承认 AI 很强，避免陷入和大模型比参数。然后说普通用户缺的不是答案，而是四个断裂。结尾用战略选择拔高：我们不是因为 AI 火了才做 AI，而是看到普通人离目标没有更近。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40s。关键是避免讲成“更会聊天”。用决策对比：普通 AI 给完整计划，Sparkle 先诊断、取舍、定最小通过路径。过渡：下面把这个决策入口放进 7 天计网抢救的完整旅程。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50s。讲两个关键时刻：诊断不是问卷，是按考试权重和当前基础选择测什么；主动放弃不是偷懒，是最小通过路径。这里要让评委感到 Sparkle 在做取舍。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50s。左边讲任务卡必须有为什么、材料、步骤、卡住怎么办、完成标准。右边讲失败闭环：用户纠正一次“我不是没时间，是不会做”，系统后续计划全改。过渡：7 天结束后，这些东西不会消失。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45s。长期价值不要说自我实现，太虚。说可迁移资产：它知道你什么薄弱、什么资料有效、任务多长会拖延、什么策略能迁移到下一门课。社群只作为资产维度出现，不抢主线。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50s。姿态要稳：不要贬低 ChatGPT、Claude、DeepSeek、豆包或校内平台。它们强在单点能力或入口，但 Sparkle 补的是目标闭环。可信维度要说一句：关键决策可追溯、可纠正、可回滚，这是 AI 教育产品的信任基础。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40s。先让评委看到产品形态，再给工程证据。数字要翻译成人话：24 种极端场景不是 benchmark 名词，是零基础、7 天 deadline、多目标冲突这些难场景。这里可替换真实截图，正式比赛前最好换。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40s。团队页不要念出生年份。讲导师保证研究方案和实验设计，团队覆盖产品、AI、后端、移动端、验证安全。邓博仁作为汇报人与核心负责人，可以在口播里自然点出。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35s。商业模式不要空喊市场规模。说清楚为什么从校园开始：高频、刚需、可验证、传播快。C 端订阅先跑 PMF，D 端和课程/机构合作扩大。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30s。收束回到第一页。不要再开新概念，用完整故事闭环。最后一句落到信念：能不能做成事，不应该取决于用户会不会 prompt、会不会做计划、有没有钱请私教。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附录。若评委问“是不是只有 AI 对话”，用这一页说明社群是目标执行系统的一部分，不是泛社交。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附录。回答 AI 教育产品的信任问题：决策依据可见，用户纠正会进入系统，权限与审计保证边界。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附录。用技术但不堆名词：Aurora 的价值是让每次模型调用前先组装上下文和决策目标。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附录。知识星图不要讲成漂亮图，而是讲成用户长期资产的数据结构。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附录。回答系统如何越用越好：不是简单记忆聊天，而是从 episode 中抽取策略。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附录。回答策略怎么验证有效：通过多 agent 推演发现失败路径，再回写策略。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附录。技术答辩页，避免主讲时陷入架构细节。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附录。答辩时可用于解释具体工程进展。注意这些指标应与最新测试结果保持同步。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8c38ca68314f8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cf93211256e440a" /><Relationship Type="http://schemas.openxmlformats.org/officeDocument/2006/relationships/slideLayout" Target="/ppt/slideLayouts/slideLayout2.xml" Id="Red56cf27338f42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56cf27338f42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5b16b29376459a" /><Relationship Type="http://schemas.openxmlformats.org/officeDocument/2006/relationships/image" Target="/ppt/media/image.png" Id="Rd3f564411bed4166" /><Relationship Type="http://schemas.openxmlformats.org/officeDocument/2006/relationships/image" Target="/ppt/media/image2.png" Id="Rc8ed3677e23f467e" /><Relationship Type="http://schemas.openxmlformats.org/officeDocument/2006/relationships/image" Target="/ppt/media/image.svg" Id="Rcb4e4dc281a94650" /><Relationship Type="http://schemas.openxmlformats.org/officeDocument/2006/relationships/image" Target="/ppt/media/image3.png" Id="R8440388318814f76" /><Relationship Type="http://schemas.openxmlformats.org/officeDocument/2006/relationships/image" Target="/ppt/media/image2.svg" Id="Ra6363df603f24718" /><Relationship Type="http://schemas.openxmlformats.org/officeDocument/2006/relationships/notesSlide" Target="/ppt/notesSlides/notesSlide1.xml" Id="R2f2d618078f143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93152d1beb4710" /><Relationship Type="http://schemas.openxmlformats.org/officeDocument/2006/relationships/notesSlide" Target="/ppt/notesSlides/notesSlide2.xml" Id="R94c11b56215c45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7f952861824328" /><Relationship Type="http://schemas.openxmlformats.org/officeDocument/2006/relationships/image" Target="/ppt/media/image4.png" Id="Ra6c2f15078654519" /><Relationship Type="http://schemas.openxmlformats.org/officeDocument/2006/relationships/image" Target="/ppt/media/image3.svg" Id="R9dc4614a3714439d" /><Relationship Type="http://schemas.openxmlformats.org/officeDocument/2006/relationships/notesSlide" Target="/ppt/notesSlides/notesSlide3.xml" Id="R898ecec1d01942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f2c1d864394254" /><Relationship Type="http://schemas.openxmlformats.org/officeDocument/2006/relationships/notesSlide" Target="/ppt/notesSlides/notesSlide4.xml" Id="Rbb7bbeb76d8040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2d7898c3b34199" /><Relationship Type="http://schemas.openxmlformats.org/officeDocument/2006/relationships/image" Target="/ppt/media/image5.png" Id="R1845375bece14be9" /><Relationship Type="http://schemas.openxmlformats.org/officeDocument/2006/relationships/image" Target="/ppt/media/image4.svg" Id="R6518198dea4f41f8" /><Relationship Type="http://schemas.openxmlformats.org/officeDocument/2006/relationships/image" Target="/ppt/media/image6.png" Id="Rf831c9c7b4094888" /><Relationship Type="http://schemas.openxmlformats.org/officeDocument/2006/relationships/image" Target="/ppt/media/image5.svg" Id="R6e6a9dc10c504569" /><Relationship Type="http://schemas.openxmlformats.org/officeDocument/2006/relationships/image" Target="/ppt/media/image7.png" Id="R69474a07a5c8440e" /><Relationship Type="http://schemas.openxmlformats.org/officeDocument/2006/relationships/image" Target="/ppt/media/image6.svg" Id="Rbd52dc69439246e4" /><Relationship Type="http://schemas.openxmlformats.org/officeDocument/2006/relationships/notesSlide" Target="/ppt/notesSlides/notesSlide5.xml" Id="R7734627cd2a447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ef7b7b97ac4093" /><Relationship Type="http://schemas.openxmlformats.org/officeDocument/2006/relationships/notesSlide" Target="/ppt/notesSlides/notesSlide6.xml" Id="Ra790c069d0b348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0e05245c8a4f8d" /><Relationship Type="http://schemas.openxmlformats.org/officeDocument/2006/relationships/notesSlide" Target="/ppt/notesSlides/notesSlide7.xml" Id="Rcc910d2181324e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287987838a47d0" /><Relationship Type="http://schemas.openxmlformats.org/officeDocument/2006/relationships/image" Target="/ppt/media/image8.png" Id="Rcdf2a08790554db5" /><Relationship Type="http://schemas.openxmlformats.org/officeDocument/2006/relationships/notesSlide" Target="/ppt/notesSlides/notesSlide8.xml" Id="R8077eb2a4cc148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f82a797be84e23" /><Relationship Type="http://schemas.openxmlformats.org/officeDocument/2006/relationships/notesSlide" Target="/ppt/notesSlides/notesSlide9.xml" Id="R00c615830f7d4b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7c4e46c9b44cd9" /><Relationship Type="http://schemas.openxmlformats.org/officeDocument/2006/relationships/notesSlide" Target="/ppt/notesSlides/notesSlide10.xml" Id="R0938701085fa41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fd152d9c854d63" /><Relationship Type="http://schemas.openxmlformats.org/officeDocument/2006/relationships/image" Target="/ppt/media/image9.png" Id="R96b0136446d24c11" /><Relationship Type="http://schemas.openxmlformats.org/officeDocument/2006/relationships/notesSlide" Target="/ppt/notesSlides/notesSlide11.xml" Id="Ra9700929cbef4b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275ce182cc41c9" /><Relationship Type="http://schemas.openxmlformats.org/officeDocument/2006/relationships/image" Target="/ppt/media/image10.png" Id="R415be2b7bb454824" /><Relationship Type="http://schemas.openxmlformats.org/officeDocument/2006/relationships/image" Target="/ppt/media/image7.svg" Id="Rb1d6cdbf18bc43e0" /><Relationship Type="http://schemas.openxmlformats.org/officeDocument/2006/relationships/image" Target="/ppt/media/image11.png" Id="Rf124206fb3954aaa" /><Relationship Type="http://schemas.openxmlformats.org/officeDocument/2006/relationships/image" Target="/ppt/media/image8.svg" Id="R0c1d5da45e774a29" /><Relationship Type="http://schemas.openxmlformats.org/officeDocument/2006/relationships/image" Target="/ppt/media/image12.png" Id="R69f4fc1ea261443c" /><Relationship Type="http://schemas.openxmlformats.org/officeDocument/2006/relationships/image" Target="/ppt/media/image9.svg" Id="R0738bc4319da454b" /><Relationship Type="http://schemas.openxmlformats.org/officeDocument/2006/relationships/image" Target="/ppt/media/image13.png" Id="R967bce7743d747e9" /><Relationship Type="http://schemas.openxmlformats.org/officeDocument/2006/relationships/image" Target="/ppt/media/image10.svg" Id="R915a2dbc6a384453" /><Relationship Type="http://schemas.openxmlformats.org/officeDocument/2006/relationships/notesSlide" Target="/ppt/notesSlides/notesSlide12.xml" Id="R1b0c21df6cdd49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bc2c6cc55d433c" /><Relationship Type="http://schemas.openxmlformats.org/officeDocument/2006/relationships/image" Target="/ppt/media/image14.png" Id="Rabf060cd96f046ab" /><Relationship Type="http://schemas.openxmlformats.org/officeDocument/2006/relationships/image" Target="/ppt/media/image11.svg" Id="R52321a402b824e37" /><Relationship Type="http://schemas.openxmlformats.org/officeDocument/2006/relationships/image" Target="/ppt/media/image15.png" Id="R88417b183e1e4214" /><Relationship Type="http://schemas.openxmlformats.org/officeDocument/2006/relationships/image" Target="/ppt/media/image12.svg" Id="R815d9885ada6473f" /><Relationship Type="http://schemas.openxmlformats.org/officeDocument/2006/relationships/image" Target="/ppt/media/image16.png" Id="R57a37ad061904ca4" /><Relationship Type="http://schemas.openxmlformats.org/officeDocument/2006/relationships/image" Target="/ppt/media/image13.svg" Id="Rc8184a4f00e6452e" /><Relationship Type="http://schemas.openxmlformats.org/officeDocument/2006/relationships/notesSlide" Target="/ppt/notesSlides/notesSlide13.xml" Id="R40677ae93a904a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d1ab1414684ba4" /><Relationship Type="http://schemas.openxmlformats.org/officeDocument/2006/relationships/notesSlide" Target="/ppt/notesSlides/notesSlide14.xml" Id="R680403164e4f4a0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9a91ea1e4a4ee3" /><Relationship Type="http://schemas.openxmlformats.org/officeDocument/2006/relationships/notesSlide" Target="/ppt/notesSlides/notesSlide15.xml" Id="Raa3b125e6c6a41e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8cf910daf34c75" /><Relationship Type="http://schemas.openxmlformats.org/officeDocument/2006/relationships/image" Target="/ppt/media/image17.png" Id="R590c0453cf6247cd" /><Relationship Type="http://schemas.openxmlformats.org/officeDocument/2006/relationships/image" Target="/ppt/media/image14.svg" Id="R5ce8aac5fa634b14" /><Relationship Type="http://schemas.openxmlformats.org/officeDocument/2006/relationships/image" Target="/ppt/media/image18.png" Id="Rbdf92a57b0714fca" /><Relationship Type="http://schemas.openxmlformats.org/officeDocument/2006/relationships/image" Target="/ppt/media/image15.svg" Id="R34f4cf62dc5f4cad" /><Relationship Type="http://schemas.openxmlformats.org/officeDocument/2006/relationships/image" Target="/ppt/media/image19.png" Id="Rbc507ade589f4781" /><Relationship Type="http://schemas.openxmlformats.org/officeDocument/2006/relationships/image" Target="/ppt/media/image16.svg" Id="Rad349968fb6b4ae2" /><Relationship Type="http://schemas.openxmlformats.org/officeDocument/2006/relationships/image" Target="/ppt/media/image20.png" Id="Rb8f3810cf558417c" /><Relationship Type="http://schemas.openxmlformats.org/officeDocument/2006/relationships/image" Target="/ppt/media/image17.svg" Id="R973ba09040c74b29" /><Relationship Type="http://schemas.openxmlformats.org/officeDocument/2006/relationships/notesSlide" Target="/ppt/notesSlides/notesSlide16.xml" Id="R5e0c21e85b504f3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d61a6e5f264573" /><Relationship Type="http://schemas.openxmlformats.org/officeDocument/2006/relationships/notesSlide" Target="/ppt/notesSlides/notesSlide17.xml" Id="R493c585ee82c490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d8cc4df7f64630" /><Relationship Type="http://schemas.openxmlformats.org/officeDocument/2006/relationships/image" Target="/ppt/media/image21.png" Id="R7157da8bc1684805" /><Relationship Type="http://schemas.openxmlformats.org/officeDocument/2006/relationships/image" Target="/ppt/media/image18.svg" Id="Rcd0678d2254f4f31" /><Relationship Type="http://schemas.openxmlformats.org/officeDocument/2006/relationships/image" Target="/ppt/media/image22.png" Id="Re617f4d0f1d14970" /><Relationship Type="http://schemas.openxmlformats.org/officeDocument/2006/relationships/image" Target="/ppt/media/image19.svg" Id="Reb2896797de64ad6" /><Relationship Type="http://schemas.openxmlformats.org/officeDocument/2006/relationships/image" Target="/ppt/media/image23.png" Id="R17b61a7a8acc49c9" /><Relationship Type="http://schemas.openxmlformats.org/officeDocument/2006/relationships/image" Target="/ppt/media/image20.svg" Id="R64747e379a124e63" /><Relationship Type="http://schemas.openxmlformats.org/officeDocument/2006/relationships/image" Target="/ppt/media/image24.png" Id="R89ba6408959a4fc8" /><Relationship Type="http://schemas.openxmlformats.org/officeDocument/2006/relationships/image" Target="/ppt/media/image21.svg" Id="R7ad4741e5e8c45f8" /><Relationship Type="http://schemas.openxmlformats.org/officeDocument/2006/relationships/notesSlide" Target="/ppt/notesSlides/notesSlide18.xml" Id="R5996135ff0eb449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b82e737f4b4adf" /><Relationship Type="http://schemas.openxmlformats.org/officeDocument/2006/relationships/notesSlide" Target="/ppt/notesSlides/notesSlide19.xml" Id="R81a597f5dad345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C24EC4-3694-4087-B67C-0EC0469E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FF086-95D2-429A-B63E-EDA182C2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E2DAC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70A65-0E1A-4001-938C-7790202F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E849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6E8498"/>
                </a:solidFill>
                <a:latin typeface="PingFang SC"/>
                <a:ea typeface="PingFang SC"/>
                <a:cs typeface="PingFang SC"/>
              </a:rPr>
              <a:t>Sparkle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578AD-0D6D-4BBC-9B80-0E858F34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鸿雁杯校内选拔 · 8 分钟路演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1052B-399F-4915-B01C-B6AD653B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809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550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1550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6FDD4-AD40-4E40-9FC8-C35A1922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14500"/>
            <a:ext cx="495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天后考试，基本没学。</a:t>
            </a:r>
          </a:p>
          <a:p xmlns:a="http://schemas.openxmlformats.org/drawingml/2006/main">
            <a:pPr algn="l">
              <a:defRPr sz="34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AI 能救吗？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8B2BE-BDA5-49FC-AEC7-CEBE2A03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81350"/>
            <a:ext cx="533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我们不把 Sparkle 讲成“又一个会答题的 AI”。</a:t>
            </a:r>
          </a:p>
          <a:p xmlns:a="http://schemas.openxmlformats.org/drawingml/2006/main">
            <a:pPr algn="l">
              <a:defRPr sz="157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今天只讲一件事：它怎样把一个普通学生从慌乱带到可执行、可反馈、可通过。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C6268-79E0-47B5-B6F9-78CC8D2D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62000"/>
            <a:ext cx="2381250" cy="4953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72027"/>
          </a:solidFill>
          <a:ln xmlns:a="http://schemas.openxmlformats.org/drawingml/2006/main" w="9525">
            <a:solidFill>
              <a:srgbClr val="0E141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85BB0-7BC9-49AA-A8E7-3511FE93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876300"/>
            <a:ext cx="2152650" cy="472440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3840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564411bed4166"/>
          <a:srcRect xmlns:a="http://schemas.openxmlformats.org/drawingml/2006/main" l="10719" t="0" r="107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48700" y="933450"/>
            <a:ext cx="2038350" cy="46101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0D748-8B1B-4FAB-960C-39393861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62450"/>
            <a:ext cx="1657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E3DED3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d3677e23f467e">
            <a:extLst>
              <a:ext uri="{96DAC541-7B7A-43D3-8B79-37D633B846F1}">
                <asvg:svgBlip xmlns:asvg="http://schemas.microsoft.com/office/drawing/2016/SVG/main" r:embed="Rcb4e4dc281a946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95600" y="44386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074610-D2A3-4EE4-BD66-9F9A7032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386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027"/>
                </a:solidFill>
                <a:latin typeface="PingFang SC"/>
                <a:ea typeface="PingFang SC"/>
                <a:cs typeface="PingFang SC"/>
              </a:rPr>
              <a:t>北极星压力测试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FB800-9E89-4F71-BA84-2353897D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62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E3DED3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0388318814f76">
            <a:extLst>
              <a:ext uri="{96DAC541-7B7A-43D3-8B79-37D633B846F1}">
                <asvg:svgBlip xmlns:asvg="http://schemas.microsoft.com/office/drawing/2016/SVG/main" r:embed="Ra6363df603f247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05350" y="44386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58906-87D5-4044-A4C5-07D0026C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386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027"/>
                </a:solidFill>
                <a:latin typeface="PingFang SC"/>
                <a:ea typeface="PingFang SC"/>
                <a:cs typeface="PingFang SC"/>
              </a:rPr>
              <a:t>计网 7 天抢救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A9C7AE-12B1-459C-97C9-12788800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Sparkle V2 Roadshow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A6C36E-54E8-4255-937A-F4C8FC67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601509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3CEBCB-A3B2-48AE-BAB7-29D3090A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4725E-4359-480A-BC36-DC4A37B9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EAF68-1409-4BDE-86F5-91003179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AI 很强，但普通人离目标没有更近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9290B-F691-494F-A954-CF7EAAED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问题不是模型不会答，而是用户不知道如何把目标变成路径，并一路做完。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1156F-6153-405D-B2F9-AC5306CB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23622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CB969-F039-42F9-B44D-0E22CE4C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ACAA1-5B64-4A6F-BC7F-B3ACC362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08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需求断裂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34DCB-0FA3-44CE-ADA2-9D80DFF7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我想通过考试，但说不清差距在哪里。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C4058-24B2-40F4-83BD-50451391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47950"/>
            <a:ext cx="23622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7EBDD"/>
          </a:solidFill>
          <a:ln xmlns:a="http://schemas.openxmlformats.org/drawingml/2006/main" w="9525">
            <a:solidFill>
              <a:srgbClr val="DDD4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8FCB4-0EDF-4F36-906B-369A6355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5750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D8B6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D8B6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3B2EF-6F0A-4E4F-B718-5D0DD6EB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908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路径断裂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78504-F86F-452C-A8A1-BB8626D8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资料很多、时间很短，不知道先救哪一块。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3C826-D6CC-462F-91C6-CD1AF7F8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47950"/>
            <a:ext cx="23622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09AB6-0357-49B7-B13E-44474FEC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849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E849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3D0DA-3C19-4490-8853-264EEE43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908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执行断裂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0BE01-CE64-40E8-A143-E37F8DB5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计划看起来完整，落到今天只剩下焦虑。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91ABC-21C2-4C65-9CE7-49BC5435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23622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82C4BE-1712-4C29-B752-071B4B5E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5750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955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8955E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D9AE31-F1FC-415D-8BB7-ADDC5C81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908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反馈断裂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D96D79-13AF-4950-BCCE-59976437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0045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失败后没人判断原因，下一步仍然靠猜。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C094C5-2532-4DE8-9E86-9EC6831C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E49FB1-6DE7-4714-A86D-8313C6BB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0065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027"/>
                </a:solidFill>
                <a:latin typeface="PingFang SC"/>
                <a:ea typeface="PingFang SC"/>
                <a:cs typeface="PingFang SC"/>
              </a:rPr>
              <a:t>所有人都在卷模型能力。我们选择卷另一件事：让普通人真的把目标做成。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21D557-C3D7-4920-A8E9-6E2CEFAD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19750"/>
            <a:ext cx="8039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这也是 Sparkle 的战略选择：系统承担 prompt、拆解、取舍、追踪和纠偏的认知负担。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0FCA6F-57EE-4B7B-B0EF-9A7C9AA5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Sparkle V2 Roadshow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F895C1-3F36-42C0-886A-42D7B85B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889297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651A44-5FCD-4D3A-BB75-3BAEAAF5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006FC-B10F-4471-AF24-AD78D32B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Aurora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7D2E0-8A54-4394-8E8C-288FC040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第一次对话就不一样：不是先答，是先决策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13EC1-A5EE-4371-A8F6-C8A367C4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Aurora 不是让 AI 更会聊天，而是每次回答前先做上下文与目标决策。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1D7DE-388E-4D67-A18B-516DA532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4762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C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013E0-D02F-4DD2-8059-5F83AE20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4762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7FBF2"/>
          </a:solidFill>
          <a:ln xmlns:a="http://schemas.openxmlformats.org/drawingml/2006/main" w="9525">
            <a:solidFill>
              <a:srgbClr val="7D8B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953FD-BE6D-492D-AE62-CC9B80CA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裸用通用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CB22E-E39B-485E-8863-BB0778FB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“7 天后考计网，基本没学。”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AB04B-D2B4-48A5-BF9C-82EDC6C7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381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常见结果：给一份完整复习计划</a:t>
            </a:r>
          </a:p>
          <a:p xmlns:a="http://schemas.openxmlformats.org/drawingml/2006/main">
            <a:pPr algn="l">
              <a:defRPr sz="1650" b="0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包含所有章节、资料和解释</a:t>
            </a:r>
          </a:p>
          <a:p xmlns:a="http://schemas.openxmlformats.org/drawingml/2006/main">
            <a:pPr algn="l">
              <a:defRPr sz="1650" b="0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看似全面，但没有取舍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46A18-2D87-42E1-AE4E-90AFCA46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4D3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A94D3F"/>
                </a:solidFill>
                <a:latin typeface="PingFang SC"/>
                <a:ea typeface="PingFang SC"/>
                <a:cs typeface="PingFang SC"/>
              </a:rPr>
              <a:t>问题：把判断留给用户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9A1E1-A815-428B-8F67-9F6C2E9B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670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57A62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557A62"/>
                </a:solidFill>
                <a:latin typeface="PingFang SC"/>
                <a:ea typeface="PingFang SC"/>
                <a:cs typeface="PingFang SC"/>
              </a:rPr>
              <a:t>Sparkle + Aurora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26C66-A107-4B81-B24B-8B32FD4A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432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同一句输入，先进入抢救模式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6ADA7-5D66-4AC7-8238-1486A70B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62350"/>
            <a:ext cx="381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先做 12 分钟诊断</a:t>
            </a:r>
          </a:p>
          <a:p xmlns:a="http://schemas.openxmlformats.org/drawingml/2006/main">
            <a:pPr algn="l">
              <a:defRPr sz="1650" b="0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根据考试权重和当前基础取舍</a:t>
            </a:r>
          </a:p>
          <a:p xmlns:a="http://schemas.openxmlformats.org/drawingml/2006/main">
            <a:pPr algn="l">
              <a:defRPr sz="1650" b="0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主动放弃低收益章节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C5C54-4814-46A1-953B-4D0D6FBF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386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7A6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57A62"/>
                </a:solidFill>
                <a:latin typeface="PingFang SC"/>
                <a:ea typeface="PingFang SC"/>
                <a:cs typeface="PingFang SC"/>
              </a:rPr>
              <a:t>差异：系统先做目标决策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2f15078654519">
            <a:extLst>
              <a:ext uri="{96DAC541-7B7A-43D3-8B79-37D633B846F1}">
                <asvg:svgBlip xmlns:asvg="http://schemas.microsoft.com/office/drawing/2016/SVG/main" r:embed="R9dc4614a371443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53100" y="3486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41866-FD02-413C-89D3-08FAA642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19700"/>
            <a:ext cx="8115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202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E31820-5BE5-4926-8473-E021DB53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72100"/>
            <a:ext cx="7581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这不是“先问几个问题”的聊天技巧，而是把模型能力装进目标状态、用户画像和反馈闭环里。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8B7368-6099-4A7A-9A33-14F59FA9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Sparkle V2 Roadshow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562489-1687-48A0-BCBE-5139DAFC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971556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6588C2-E41E-4E96-9599-69FDFEBC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D9520-84A4-479B-A25A-B194BD03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North Star /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75A8A-184E-4B04-903C-E5FA149F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7 天救急·上：诊断 + 主动放弃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091DD-6D7A-4751-AA12-61BB7422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最难的不是把知识讲全，而是在时间不足时判断什么该做、什么不该做。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11FE9-9BFB-4581-A8CC-0293E12A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4762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06970-0198-4661-B90D-ACAE2AEB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12 分钟诊断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30FE9-6101-4AFC-A330-97C201DE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Sparkle 不让学生先“开始复习”，而是先测三类高收益能力：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9C2F5-497A-4BE0-98D0-CA1B6B8D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3810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EBDD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01DF9-C4C5-4481-A964-1351D4C4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100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TCP 可靠传输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5EE37-952A-42F0-B986-85D8BA4F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100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高频考点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415E0-9CE2-4252-9BB0-96B341C2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3810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D8C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8C8F2-B9E9-4566-BF7D-F3B3AE10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子网划分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D4CE1F-E89C-4CAE-9310-C6F19D8E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862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短板暴露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DDC7E-A0DC-46A9-BA27-54ABFBB5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3810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EBDD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52A7F8-CE95-4A44-ADAF-7EB43D68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625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差错检测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500007-AFBF-46A2-8FE3-A5481E24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625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可快速补齐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8FAF3-B3CF-4FB0-B880-2D6AC322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9FAF4"/>
          </a:solidFill>
          <a:ln xmlns:a="http://schemas.openxmlformats.org/drawingml/2006/main" w="9525">
            <a:solidFill>
              <a:srgbClr val="7D8B6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618521-BEF0-45B8-902F-AF885D38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860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57A6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557A62"/>
                </a:solidFill>
                <a:latin typeface="PingFang SC"/>
                <a:ea typeface="PingFang SC"/>
                <a:cs typeface="PingFang SC"/>
              </a:rPr>
              <a:t>主动放弃第 8 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21F06E-CAD1-4A6F-B3EC-D6D93F8F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432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不是因为它不重要，而是因为在 7 天约束下投入产出比最低。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1D9D9A-DBA0-4702-98AA-E88CB85F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100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Day 1-2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89A14C-1207-4FF1-8C52-E0FCBD9B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10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救 TCP / 子网 / 差错检测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BF63C-6E7B-4B0C-AD7B-8ACBC81F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1005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Day 3-5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CF3916-EC3F-49C9-AFB1-F832D98D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10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真题驱动补理论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15F341-8960-4963-B505-FE1012B3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101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Day 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1B9078-A63A-4A43-A3EF-C9F82FA1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10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错因回收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C8A6C7-3D03-4602-A8D8-D6D1D329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1015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Day 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1F9AD1-ED84-4D1E-8DA0-358418DC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10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保底题型演练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1E339A-6210-4A1C-A4A8-FC721521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340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一句话：救急不是完整学习，是最小通过路径。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7BDE19-5401-4EFE-910E-D5DEB177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Sparkle V2 Roadshow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167B5F-3895-4861-8AA7-53BE3085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946126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147C56-4D74-443A-BEE7-919CC13B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68D9D-422F-4D26-9E11-95A9A31C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North Star /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D0EA7-24CC-4D78-B117-C146A0D5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7 天救急·下：任务卡 + 失败重规划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A3050-D41E-4899-BC13-6E9EC5A7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失败不是计划结束，而是系统更新对用户的判断。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D1E15-6B09-4C50-894A-727AF380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38671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BD4E8-5F01-4550-80D8-922EDC34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今日任务卡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689BD-1E2C-43F5-9CC4-8A8190D9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46F4D">
              <a:alpha val="13333"/>
            </a:srgbClr>
          </a:solidFill>
          <a:ln xmlns:a="http://schemas.openxmlformats.org/drawingml/2006/main" w="9525">
            <a:solidFill>
              <a:srgbClr val="C46F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30675-5E94-44B0-92DD-30E65CF3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38425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高价值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EA7C0-49A8-4FAB-8F40-B4FF9B79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理解 TCP 可靠传输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1B248-B592-4B95-9FBC-38C46D73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预计 45 分钟 · 真题驱动 · 2 道验证题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8776C-2F62-4FD7-A764-C96E81D3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7EDA5-9710-42F5-BC42-A3A3C1DF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A6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57A62"/>
                </a:solidFill>
                <a:latin typeface="PingFang SC"/>
                <a:ea typeface="PingFang SC"/>
                <a:cs typeface="PingFang SC"/>
              </a:rPr>
              <a:t>为什么做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1D6FD-F305-4093-BA5E-C1DE0CCF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高频题型，能快速提升原理题与应用题准确率。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DA052-EC35-4290-AC66-87F40353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卡住怎么办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D41AB-B8F7-48CB-9424-C78768CF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15 分钟无进展：看示例题 → 10 分钟讲解 → 向 Sparkle 求助。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72067-C89A-44D7-8EEB-4E3DE8D6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19400"/>
            <a:ext cx="1181100" cy="14287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B9556-9CE7-4CFE-830A-85C89318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099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4D3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A94D3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96167-6DB3-4A8A-A1AE-BCB542F9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337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失败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A7009-0286-48E7-B900-9ABA7D1E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766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任务超时，题没做出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5375bece14be9">
            <a:extLst>
              <a:ext uri="{96DAC541-7B7A-43D3-8B79-37D633B846F1}">
                <asvg:svgBlip xmlns:asvg="http://schemas.microsoft.com/office/drawing/2016/SVG/main" r:embed="R6518198dea4f41f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96050" y="34290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3998B2-A647-4946-B75E-4F8F77C5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1181100" cy="14287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2D8C9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DCF10A-FA6D-42C7-B095-1FC2C83A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099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2B3ED4-D78D-46ED-9ED1-56327E18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归因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A1863E-2D40-428D-9D66-2F569E32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766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不是没时间，是不会做报文段推理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1c9c7b4094888">
            <a:extLst>
              <a:ext uri="{96DAC541-7B7A-43D3-8B79-37D633B846F1}">
                <asvg:svgBlip xmlns:asvg="http://schemas.microsoft.com/office/drawing/2016/SVG/main" r:embed="R6e6a9dc10c5045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81950" y="34290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A993D7-647C-47E0-A5E9-26FB1D15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1181100" cy="14287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8FA383-BD99-4CB9-85A8-5B8C5AED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99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D8B6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D8B6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550CE2-7534-464C-B03E-3A876891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改判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1E5E32-D933-4E1B-AF45-3D8FC389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766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降低阅读量，增加例题拆解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74a07a5c8440e">
            <a:extLst>
              <a:ext uri="{96DAC541-7B7A-43D3-8B79-37D633B846F1}">
                <asvg:svgBlip xmlns:asvg="http://schemas.microsoft.com/office/drawing/2016/SVG/main" r:embed="Rbd52dc69439246e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67850" y="34290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1E0811-D6C2-4A83-BD02-889A745C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19400"/>
            <a:ext cx="1181100" cy="14287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328A4C-C298-4156-9C22-5A68AC00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099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849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E8498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E401F3-8A42-4EA3-BAF0-C6E2367C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337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重规划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256EA0-D140-45CE-B96E-36786190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766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下一张任务卡自动变短、先练题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A86267-79E7-482A-9D95-7D6476C9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81550"/>
            <a:ext cx="5638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02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145AB3-9879-43CF-980C-98B6E6D9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53000"/>
            <a:ext cx="510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Aurora 不是只改这一张任务卡，而是更新后续所有相关决策参数。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89C9D9-7C03-4B91-8EC5-4E635AED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Sparkle V2 Roadshow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87C110-08F0-4F98-94E7-B484EEB3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201006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BADC19-D12F-49A6-989A-4C061EEB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B002C-00B0-4A4B-AC9F-126958FF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Long 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EA831-E706-4E12-8BF3-B0787A50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用一年后，留下的不是聊天记录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BBE7A-EDC3-4B1D-93DF-8609E21A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留下的是一套关于“这个人怎么更容易做成事”的可迁移方法资产。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2199F-12EF-4889-AB9D-4F1A4D90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62275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E35A7-44A0-4A0F-B6ED-94937232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400425"/>
            <a:ext cx="1104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个人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方法资产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58898-D0FF-4ECD-8042-0E61DA87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76550"/>
            <a:ext cx="309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F4D">
              <a:alpha val="4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F3C72-BE93-4E28-9321-25A86FB7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7650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4E971-C619-4F2F-B1EC-E6A13431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289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薄弱点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D02EE-4FC5-4004-9A20-0289EC9C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1465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子网划分反复失分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927D97-9117-40F7-8BD9-6AEB7829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476500"/>
            <a:ext cx="733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8B6F">
              <a:alpha val="4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D79B7-54A7-49CC-8BFB-537C2AC4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7645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DBB6C7-93F0-4965-B810-A99FB8A4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2288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8B6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D8B6F"/>
                </a:solidFill>
                <a:latin typeface="PingFang SC"/>
                <a:ea typeface="PingFang SC"/>
                <a:cs typeface="PingFang SC"/>
              </a:rPr>
              <a:t>有效资料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87D228-4B34-41D0-AD90-8F369783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51460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真题优先于长视频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E8293-4909-420E-836A-ECFAA240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498">
              <a:alpha val="4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692E17-0414-43EC-BBB1-CD87DDB2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7645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872F65-27AE-4F0B-B1B9-B1B88047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288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E849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6E8498"/>
                </a:solidFill>
                <a:latin typeface="PingFang SC"/>
                <a:ea typeface="PingFang SC"/>
                <a:cs typeface="PingFang SC"/>
              </a:rPr>
              <a:t>任务粒度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45FDE0-376C-4F5D-8F36-C0DBB7A0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1460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45 分钟以上容易拖延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044BE3-8FFB-423C-9627-E5081247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958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E">
              <a:alpha val="4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9884DE-8ADD-4E6F-A529-B6039D3C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9EBCF4-3B0E-4448-B75F-094C15AE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481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955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8955E"/>
                </a:solidFill>
                <a:latin typeface="PingFang SC"/>
                <a:ea typeface="PingFang SC"/>
                <a:cs typeface="PingFang SC"/>
              </a:rPr>
              <a:t>策略迁移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518414-6322-4FF5-B642-C457A6C4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3390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先练题再补理论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6AC067-DDE6-45DB-B258-9B520425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448300"/>
            <a:ext cx="74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F4D">
              <a:alpha val="4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3BE058-48A9-43AF-A926-10B43649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4825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981136-FEFE-4D77-B583-93A4B9E6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00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情绪触发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9A4B29-DC41-4ECE-B578-A0B62DB8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8640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高压下需要低成本第一步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59C299-E664-4329-B881-6241CBF7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95800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8B6F">
              <a:alpha val="4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8E9869-2D1F-41B9-B609-BDAF787D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9575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AC71F3-6ACD-4EB6-8855-028C0A42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2481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8B6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D8B6F"/>
                </a:solidFill>
                <a:latin typeface="PingFang SC"/>
                <a:ea typeface="PingFang SC"/>
                <a:cs typeface="PingFang SC"/>
              </a:rPr>
              <a:t>社群见证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9A7049-4A25-41FF-BFAE-19DBBEAB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53390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责任伙伴记录关键突破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5235DE-CEFE-4EFB-B867-216007CF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62650"/>
            <a:ext cx="742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这不是用户自己总结的，是 Aurora 在每一次决策、反馈和纠正中自动积累的。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F2496B-EB68-43D5-B86F-57756A87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Sparkle V2 Roadshow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A53DE8-A69D-4750-B363-844D1F54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013771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B3734A-B53A-4C3F-BF9B-B5E2109C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111C0-06E7-4740-AF54-2FF3DDFA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Differentiation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F57BD-CE26-47E9-ADA7-CD525F93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为什么竞品难做到：不是单点弱，是缺闭环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116EE-3A35-45F2-B143-08D6325D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Sparkle 的差异不在“回答更聪明”，而在目标决策、执行反馈、长期资产和可信校正同时存在。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04F70-B9A6-4270-BECC-FA467868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2381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4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22F36-CCA3-438D-8166-F05A9CB6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比较维度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2407B-93A4-4426-887A-C24137F0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24100"/>
            <a:ext cx="2743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4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D031F-D383-4CF2-8864-761D0099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57450"/>
            <a:ext cx="2438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通用大模型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BD935-B8DA-46F9-B6F3-B09FB571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24100"/>
            <a:ext cx="2743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4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D6A93-8892-48CD-9971-8F442BC2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2438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学习工具 / 校内平台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119D4-CA21-4C03-B2AD-C42B2272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4100"/>
            <a:ext cx="2762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2027"/>
          </a:solidFill>
          <a:ln xmlns:a="http://schemas.openxmlformats.org/drawingml/2006/main" w="9525">
            <a:solidFill>
              <a:srgbClr val="DCD4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8C892-54AE-4012-A35D-849A6045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57450"/>
            <a:ext cx="2457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Sparkle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7F282-EBE4-4398-84BC-DE610CAF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80A85F-8AC6-4267-A5DF-295986B4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目标决策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5D2E5-7DFE-445D-8094-8921BD9C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62250"/>
            <a:ext cx="2743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8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D1C8F5-4BE8-4ACE-827D-B9DD9520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43225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能回答，但常给完整计划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B3327A-C0DD-4EF5-A1C6-240FC94F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62250"/>
            <a:ext cx="2743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E83F01-ADFA-4D4A-97A9-585E795B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43225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有计划表，少动态取舍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F91A3F-C35B-47EC-9524-F66BF95A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62250"/>
            <a:ext cx="2762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BF2"/>
          </a:solidFill>
          <a:ln xmlns:a="http://schemas.openxmlformats.org/drawingml/2006/main" w="9525">
            <a:solidFill>
              <a:srgbClr val="7D8B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1EE7FA-D413-404B-BA10-D5442FED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43225"/>
            <a:ext cx="2457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57A6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57A62"/>
                </a:solidFill>
                <a:latin typeface="PingFang SC"/>
                <a:ea typeface="PingFang SC"/>
                <a:cs typeface="PingFang SC"/>
              </a:rPr>
              <a:t>先诊断，再算最小通过路径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7263CB-A013-4927-9D28-3BAFDE02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ABE0A-9DC3-49E3-9EEF-02B28630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43325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执行反馈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15D0D5-365C-43F5-9DF6-3ACD909C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05200"/>
            <a:ext cx="2743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8C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42B94A-4CF3-45B9-97CD-4901AFBF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86175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对话结束即断开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6D6C20-DFD7-4C91-AE8D-7195AEB6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05200"/>
            <a:ext cx="2743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914EA6-224F-42B7-AD59-77AE489F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86175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打卡为主，少错因归因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3D9B03-1901-4462-ADAE-5D22FCBB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05200"/>
            <a:ext cx="2762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BF2"/>
          </a:solidFill>
          <a:ln xmlns:a="http://schemas.openxmlformats.org/drawingml/2006/main" w="9525">
            <a:solidFill>
              <a:srgbClr val="7D8B6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B0B1D7-C2BA-44D7-830C-10C7D67B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86175"/>
            <a:ext cx="2457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57A6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57A62"/>
                </a:solidFill>
                <a:latin typeface="PingFang SC"/>
                <a:ea typeface="PingFang SC"/>
                <a:cs typeface="PingFang SC"/>
              </a:rPr>
              <a:t>任务结果反向更新计划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104885-9AA6-4E04-A092-397FB5A4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8C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EB8079-3A90-4E67-836D-1C9A694D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86275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长期资产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04985B-3E7A-4357-9B50-1A59971A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48150"/>
            <a:ext cx="2743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8C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DB12DA-1E0E-4439-B3E1-326906ED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29125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聊天记录难迁移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61691B-1031-410E-A509-7DCE8246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48150"/>
            <a:ext cx="2743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8C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BF3A7A-7895-4E0F-B953-AA55EBA5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29125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知识点沉淀，少方法沉淀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55FFAD-0377-49BA-B13A-01C8A871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48150"/>
            <a:ext cx="2762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BF2"/>
          </a:solidFill>
          <a:ln xmlns:a="http://schemas.openxmlformats.org/drawingml/2006/main" w="9525">
            <a:solidFill>
              <a:srgbClr val="7D8B6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271A24-391B-4049-9AA5-12C0E7AC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29125"/>
            <a:ext cx="2457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57A6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57A62"/>
                </a:solidFill>
                <a:latin typeface="PingFang SC"/>
                <a:ea typeface="PingFang SC"/>
                <a:cs typeface="PingFang SC"/>
              </a:rPr>
              <a:t>沉淀个人方法资产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86052D-C08B-4B4A-9454-C9A40302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8C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DCCA3E-2AE3-48D3-ABB2-5C280C0B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29225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可信校正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802982-166C-40E2-8DDE-2B288F64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91100"/>
            <a:ext cx="2743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8C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B7EF66-11E9-4EF5-A844-1F625768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72075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建议黑盒，难追踪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737D10-555B-4B0D-BC09-A715ACAA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91100"/>
            <a:ext cx="2743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8C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FBE501-AE0E-45B0-8642-F6880046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72075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流程可见但 AI 决策弱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1DCC02-AA8A-494D-AED6-5F92E82B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991100"/>
            <a:ext cx="2762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BF2"/>
          </a:solidFill>
          <a:ln xmlns:a="http://schemas.openxmlformats.org/drawingml/2006/main" w="9525">
            <a:solidFill>
              <a:srgbClr val="7D8B6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BB7BB0-F20E-4F84-BFB0-774A6848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72075"/>
            <a:ext cx="2457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57A6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57A62"/>
                </a:solidFill>
                <a:latin typeface="PingFang SC"/>
                <a:ea typeface="PingFang SC"/>
                <a:cs typeface="PingFang SC"/>
              </a:rPr>
              <a:t>关键决策可追溯、可纠正、可回滚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584200-42EB-4EAF-B7D0-5FADCDCF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981700"/>
            <a:ext cx="9410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我们不否认通用模型很强；Sparkle 做的是把强模型变成普通用户可稳定获得结果的系统。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4C4861-DBFD-4117-8E1C-F174DDEC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Sparkle V2 Roadshow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D5C43E-B4A1-4056-8D63-C8FC8576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9382480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E3C3B2-122D-43C3-A65E-DC1DC4F2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B284F-2B3C-4B73-B2C8-3BBD481A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96532-C7E7-4972-AB62-8A240102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不是概念：已有可运行系统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740EB-41E8-458E-BD57-996216BF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产品体验有清晰形态，底层工程也已经通过多轮本地验证。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90FF0-5872-40FC-BC79-3CA1AABC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2381250" cy="37338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72027"/>
          </a:solidFill>
          <a:ln xmlns:a="http://schemas.openxmlformats.org/drawingml/2006/main" w="9525">
            <a:solidFill>
              <a:srgbClr val="0E14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FB05A-9809-4228-A187-879CD811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2152650" cy="350520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3840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2a08790554db5"/>
          <a:srcRect xmlns:a="http://schemas.openxmlformats.org/drawingml/2006/main" l="0" t="3188" r="0" b="3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5850" y="2419350"/>
            <a:ext cx="2038350" cy="3390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09AD3-69DD-41BF-A36A-7C2579FA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769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8C857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C857B"/>
                </a:solidFill>
                <a:latin typeface="PingFang SC"/>
                <a:ea typeface="PingFang SC"/>
                <a:cs typeface="PingFang SC"/>
              </a:rPr>
              <a:t>界面示意，可替换为真实截图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AEEAC-8722-4623-9F24-935CAD8B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2876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8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DE11F-93A8-449D-AE47-79CD5697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24100"/>
            <a:ext cx="2533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D8B6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7D8B6F"/>
                </a:solidFill>
                <a:latin typeface="PingFang SC"/>
                <a:ea typeface="PingFang SC"/>
                <a:cs typeface="PingFang SC"/>
              </a:rPr>
              <a:t>24 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B386E-800C-42A3-99D2-D3993E8E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76525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极端目标场景全通过：含零基础、7 天 deadline、多目标冲突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D8238-718E-427E-BF3D-ABCED50B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52650"/>
            <a:ext cx="2876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8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6E82BD-1655-4428-8236-D8715B5D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24100"/>
            <a:ext cx="2533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12/12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9FECC-B92E-4BA8-B118-4F6FF9E9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76525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ExamSprintBench 本地冲刺场景通过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811D0B-8E1E-4B3F-AFD1-4474C3D4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2876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8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C34CB-2B82-4CC8-A9E0-0F8F43B1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43300"/>
            <a:ext cx="2533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E849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6E8498"/>
                </a:solidFill>
                <a:latin typeface="PingFang SC"/>
                <a:ea typeface="PingFang SC"/>
                <a:cs typeface="PingFang SC"/>
              </a:rPr>
              <a:t>97.3%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4C4E3-3C06-47DF-AB79-B3BD56D0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95725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Aurora closeout 验收项完成率：72/74 verified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76F4D5-44F1-42F7-8130-DBE73C19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71850"/>
            <a:ext cx="2876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8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91D5E-42FB-4315-A5DE-9418E74B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43300"/>
            <a:ext cx="2533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8955E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8955E"/>
                </a:solidFill>
                <a:latin typeface="PingFang SC"/>
                <a:ea typeface="PingFang SC"/>
                <a:cs typeface="PingFang SC"/>
              </a:rPr>
              <a:t>90%+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ADAB1C-61AD-4EE6-85CE-C6C1B1BA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95725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关键路径真机/本地联调已跑通，移动端黑洞状态降为 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B96337-9610-40FF-8534-5D3BE758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38700"/>
            <a:ext cx="6076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02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37E760-D454-4FB7-80C2-215A666D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10150"/>
            <a:ext cx="556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这些数字不是为了炫工程量，而是回答评委心里的问题：这不是 PPT 公司，已经有能跑、能测、能继续迭代的系统底座。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2B40D1-02BF-4AFF-AA3D-AF5103AD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Sparkle V2 Roadshow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803AD8-969E-499D-A8DC-4A19AE7E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706567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523BEC-22F2-43AA-B606-B78E33D2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3C24D-97DE-45E9-889F-04FDE3BD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E05A1-2CEB-486B-BD92-9F389F82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为什么我们能做成：导师把关 + 工程型团队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6B06D-7CA1-40E5-A064-94983012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这不是单点算法项目，而是产品、AI、工程、安全和验证一起推进的系统工程。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C17C2-3E04-4B49-80BC-DCCB9D02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32575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2D2BB-05DB-4EE6-A008-F7ABCBEF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项目导师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5F129-C25C-4370-938A-54E5034E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3845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黄亚坤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D36B2-3B10-4337-A488-2AA67F35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副教授 · 博士</a:t>
            </a:r>
          </a:p>
          <a:p xmlns:a="http://schemas.openxmlformats.org/drawingml/2006/main">
            <a:pPr algn="l">
              <a:defRPr sz="127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北京邮电大学计算机学院</a:t>
            </a:r>
          </a:p>
          <a:p xmlns:a="http://schemas.openxmlformats.org/drawingml/2006/main">
            <a:pPr algn="l">
              <a:defRPr sz="127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国家示范性软件学院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E5D71-631C-4900-84C6-A74D327A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负责研究方案指导、技术路线把关、实验设计与论文写作指导。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5308B-ED51-4ED4-8D29-D65C9A25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3124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77583-216A-4FC7-ACBA-DF69EE67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38375"/>
            <a:ext cx="1238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7A6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7A62"/>
                </a:solidFill>
                <a:latin typeface="PingFang SC"/>
                <a:ea typeface="PingFang SC"/>
                <a:cs typeface="PingFang SC"/>
              </a:rPr>
              <a:t>产品与用户洞察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F3740-CCEF-49F8-9BE6-A3DA5447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09825"/>
            <a:ext cx="2552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北极星场景、完整体验、路线规划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E8926-51DF-435B-BB0A-B10F9A19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3124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7EBDD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632EC-7818-4841-B3D6-99E44589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28925"/>
            <a:ext cx="1238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7A6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7A62"/>
                </a:solidFill>
                <a:latin typeface="PingFang SC"/>
                <a:ea typeface="PingFang SC"/>
                <a:cs typeface="PingFang SC"/>
              </a:rPr>
              <a:t>AI 系统设计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17F51C-0E60-4E5C-BEE0-B9894658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00375"/>
            <a:ext cx="2552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Aurora、Causal Spine、知识星图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AB4C2-E5F7-48FB-92F3-BA846DB8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3124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A5D565-14AC-49B1-81B6-3E322194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19475"/>
            <a:ext cx="1238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7A6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7A62"/>
                </a:solidFill>
                <a:latin typeface="PingFang SC"/>
                <a:ea typeface="PingFang SC"/>
                <a:cs typeface="PingFang SC"/>
              </a:rPr>
              <a:t>后端与可信执行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2C6E2-A46A-40B1-920C-FC5503F0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90925"/>
            <a:ext cx="2552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Python AI Engine、Go Gateway、OpenClaw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D93985-0E18-485B-A494-9B2B223E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24300"/>
            <a:ext cx="3124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7EBDD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700A5C-F308-4ADD-82C7-0B7D1597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10025"/>
            <a:ext cx="1238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7A6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7A62"/>
                </a:solidFill>
                <a:latin typeface="PingFang SC"/>
                <a:ea typeface="PingFang SC"/>
                <a:cs typeface="PingFang SC"/>
              </a:rPr>
              <a:t>移动端体验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099932-887B-4777-BA2A-4737C7AE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81475"/>
            <a:ext cx="2552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Flutter 产品界面、任务流、社区协同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A3C3FD-14D0-4274-9E50-DA441991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14850"/>
            <a:ext cx="3124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68CF7E-F450-40B4-9F4F-5860D0B5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00575"/>
            <a:ext cx="1238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7A6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7A62"/>
                </a:solidFill>
                <a:latin typeface="PingFang SC"/>
                <a:ea typeface="PingFang SC"/>
                <a:cs typeface="PingFang SC"/>
              </a:rPr>
              <a:t>验证与安全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E84B74-54AD-46C6-AE4A-6FA452DE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72025"/>
            <a:ext cx="2552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Benchmark、trace、RBAC、审计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FB568E-7EDE-43B8-ABD5-F131CC48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71700"/>
            <a:ext cx="2952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981324-9464-4538-B6BA-419439B8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7647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邓博仁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A3AF54-35C8-477E-8C4E-16CE3F6A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050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计算机科学与技术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C70006-69D3-4275-805C-51351A77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14600"/>
            <a:ext cx="224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849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E8498"/>
                </a:solidFill>
                <a:latin typeface="PingFang SC"/>
                <a:ea typeface="PingFang SC"/>
                <a:cs typeface="PingFang SC"/>
              </a:rPr>
              <a:t>产品愿景 / 系统架构 / 核心研发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361EDB-52D7-4C63-985F-98092242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76550"/>
            <a:ext cx="2952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61196A-9621-40F4-A140-98ED874F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8132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张雨凝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71AAE2-1D83-4176-A782-4018383F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99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计算机科学与技术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871A5C-E030-4895-B6E6-87960C35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19450"/>
            <a:ext cx="224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849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E8498"/>
                </a:solidFill>
                <a:latin typeface="PingFang SC"/>
                <a:ea typeface="PingFang SC"/>
                <a:cs typeface="PingFang SC"/>
              </a:rPr>
              <a:t>产品与移动端协作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17419E-2EEB-40D1-AB80-094E6955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81400"/>
            <a:ext cx="2952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D4CEA2-AD37-46D0-82C2-998C162F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8617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王宇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EDD5BD-2EC5-4997-9416-80349A61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7147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电子信息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0DA4F1-6567-4440-95A0-69CDA141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24300"/>
            <a:ext cx="224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849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E8498"/>
                </a:solidFill>
                <a:latin typeface="PingFang SC"/>
                <a:ea typeface="PingFang SC"/>
                <a:cs typeface="PingFang SC"/>
              </a:rPr>
              <a:t>工程实现与测试协作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DA0DA4-C612-449A-A497-FC5B8E69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86250"/>
            <a:ext cx="2952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C4B133-411D-43F0-B6ED-1102ACBE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9102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王英树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CE06F2-2EB7-459E-A0FE-D9A70978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196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计算机科学与技术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DDD568-E21F-4439-9740-C21F86E4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29150"/>
            <a:ext cx="224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849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E8498"/>
                </a:solidFill>
                <a:latin typeface="PingFang SC"/>
                <a:ea typeface="PingFang SC"/>
                <a:cs typeface="PingFang SC"/>
              </a:rPr>
              <a:t>后端与验证协作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10B183-F607-4707-98A4-B6938E4B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Sparkle V2 Roadshow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683BCD-5AD2-49D8-9D0D-3B4B7E58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9985851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B37D49-706A-42CF-AA1E-820A96AE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7CC85-0DFD-49FD-A596-848217C5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Growth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A4220-8FE6-4468-92B8-88A0403A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未来：从校园救急到 AI-native Goal 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37B75-A79B-45D6-9BCB-88782F23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先从最刚需、最可验证的校园考试切入，再扩展到长期学习与个人目标管理。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8580E-7C03-4A03-98FA-DD5AAD15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6F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3BE8A-55B8-4CD9-BAC8-3F9423AB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81300"/>
            <a:ext cx="24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EE775-43F0-4DBA-B0B9-8DAF0A74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北邮试点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E92CE-4DF6-46A5-84AB-3CF3B473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7 天救急 / 课程场景验证 PMF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81AEA-71CD-4533-B214-10FBBF6E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52750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2A822-09EC-4304-A78F-A48540E3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B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77BDB-D106-4EF0-ABD5-21296BCB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81300"/>
            <a:ext cx="24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57A6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557A62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6A309-55B8-4E2B-A35C-85517CBA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766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多高校复制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36F42-D8B9-424B-967D-5549D7CF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5765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期末、竞赛、考研等高压目标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C6263-4EEC-4B59-8F42-FD2EDEC5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52750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A1D14-B193-465B-8F84-E41C53FC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717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B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C1E926-C438-422D-AD56-1D2359D6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24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57A6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557A62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C827F-5C54-4144-9887-68412E9F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机构合作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305ACE-2FF9-4410-80FE-6DBDB1A2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5765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课程体系、班级辅导、导师减负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19718F-0C0B-4F61-81EE-9F9E0FB5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52750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9BB75A-24D0-4245-9F35-7DE2F6FF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717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B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B733DE-618B-4955-949A-84A6FA22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81300"/>
            <a:ext cx="24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57A6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557A62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DBC44C-A006-496C-815A-E39771A3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766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Goal 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1CA420-AA4A-4238-B481-AC8AB046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从学习扩展到个人成长目标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F49174-1064-4FBC-9D84-969F5D42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24450"/>
            <a:ext cx="4095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BC832E-7D88-461A-A998-C3CAEE6F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530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C 端订阅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94F597-F1DE-4395-AD1F-BB842736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149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学生为高频刚需与关键节点付费：考试救急、长期计划、复习资产。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64526F-862D-4C57-BC35-061CF630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24450"/>
            <a:ext cx="4095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37BBEB-74E1-4D22-8093-CF8AA991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3530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57A62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557A62"/>
                </a:solidFill>
                <a:latin typeface="PingFang SC"/>
                <a:ea typeface="PingFang SC"/>
                <a:cs typeface="PingFang SC"/>
              </a:rPr>
              <a:t>D 端合作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884744-E897-4BCD-B0BE-82742CC5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149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与高校、课程团队、教育机构合作：个性化辅导、学习数据与导师减负。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716F48-E127-4FB1-A507-B0BD87D0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Sparkle V2 Roadshow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A33EC3-148B-4489-9869-7E7AA502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4041261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22DFEC-F48A-4284-A1A7-4378FD8E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892ED-99DD-4BD4-8492-DB53A662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2190750" cy="4762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72027"/>
          </a:solidFill>
          <a:ln xmlns:a="http://schemas.openxmlformats.org/drawingml/2006/main" w="9525">
            <a:solidFill>
              <a:srgbClr val="0E14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927DC-402A-43C0-A7F3-35B49891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95350"/>
            <a:ext cx="1962150" cy="45339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3840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0136446d24c11"/>
          <a:srcRect xmlns:a="http://schemas.openxmlformats.org/drawingml/2006/main" l="12855" t="0" r="128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" y="952500"/>
            <a:ext cx="1847850" cy="4419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C112E-C697-4A2D-9A22-3C89EDED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1239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D8C9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2D8C9"/>
                </a:solidFill>
                <a:latin typeface="PingFang SC"/>
                <a:ea typeface="PingFang SC"/>
                <a:cs typeface="PingFang SC"/>
              </a:rPr>
              <a:t>回到那个学生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56991-6B5E-47B3-BB0B-4FB9F0D5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621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 天前，他面对计网考试，基本没学。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88E78-6820-4CBC-897D-3BE1479C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98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 天后，他通过了。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2E534-1075-48A5-840E-022D655D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71850"/>
            <a:ext cx="666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9E2D1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D9E2D1"/>
                </a:solidFill>
                <a:latin typeface="PingFang SC"/>
                <a:ea typeface="PingFang SC"/>
                <a:cs typeface="PingFang SC"/>
              </a:rPr>
              <a:t>不是因为 Sparkle 比他聪明，</a:t>
            </a:r>
          </a:p>
          <a:p xmlns:a="http://schemas.openxmlformats.org/drawingml/2006/main">
            <a:pPr algn="l">
              <a:defRPr sz="2025" b="0">
                <a:solidFill>
                  <a:srgbClr val="D9E2D1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D9E2D1"/>
                </a:solidFill>
                <a:latin typeface="PingFang SC"/>
                <a:ea typeface="PingFang SC"/>
                <a:cs typeface="PingFang SC"/>
              </a:rPr>
              <a:t>而是因为 Sparkle 帮他做了那些他不知道该怎么做的决策。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D0119-BBB6-4C45-A1B2-6319A64E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20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5096A-8D43-4B53-AA4F-1EAADCC4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14900"/>
            <a:ext cx="676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8D0C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D8D0C2"/>
                </a:solidFill>
                <a:latin typeface="PingFang SC"/>
                <a:ea typeface="PingFang SC"/>
                <a:cs typeface="PingFang SC"/>
              </a:rPr>
              <a:t>我们相信：能不能做成事，不应该取决于你多会用 AI、多会做计划、多有钱请私教。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0446C-B309-4AD5-8857-64F5B591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8165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Sparkle 让普通人第一次就能走进自己的目标路径。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59E2A-9AE1-4B73-A8FF-4FF15D1E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Sparkle · Thank you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44908-7809-4945-8CF0-60CAD92F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0485661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17D5DD-F8A4-467A-9CD7-96AE2FC2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8D950-6268-4AF7-B1A0-248AD60C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Appendix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4A03E-C274-4EF1-A97D-18FE66E8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社群不是聊天广场，而是目标推进结构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C98E0-E94A-4062-8147-65F60FA1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责任伙伴、冲刺小组和 check-in 机制补足纯 AI 的执行弱点。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34812-1507-4C0C-B3E0-35470D09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Appendix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1F94C-3F42-46E0-9C3D-975A2FAB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6D6E5-CE7E-4015-BD92-01DE05D0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4572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be2b7bb454824">
            <a:extLst>
              <a:ext uri="{96DAC541-7B7A-43D3-8B79-37D633B846F1}">
                <asvg:svgBlip xmlns:asvg="http://schemas.microsoft.com/office/drawing/2016/SVG/main" r:embed="Rb1d6cdbf18bc43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5850" y="26860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A5117-8693-4DC9-B680-A8319EA4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47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责任伙伴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65B0D-BEF5-46E2-BB80-6450BBAA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71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互相见证目标、提醒关键节点、降低中途放弃概率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47A79-F08E-4557-97B1-02D141E5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4572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4206fb3954aaa">
            <a:extLst>
              <a:ext uri="{96DAC541-7B7A-43D3-8B79-37D633B846F1}">
                <asvg:svgBlip xmlns:asvg="http://schemas.microsoft.com/office/drawing/2016/SVG/main" r:embed="R0c1d5da45e774a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19850" y="26860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B04CD-BA8F-4380-BEAE-8A53E147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47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冲刺小组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3D2859-ED03-4070-884C-A6EAC159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71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围绕考试/竞赛 deadline 形成短期协同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3C5E8-2C74-45E1-A098-DABF88F7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4572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4fc1ea261443c">
            <a:extLst>
              <a:ext uri="{96DAC541-7B7A-43D3-8B79-37D633B846F1}">
                <asvg:svgBlip xmlns:asvg="http://schemas.microsoft.com/office/drawing/2016/SVG/main" r:embed="R0738bc4319da45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5850" y="41148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FED85-1F28-4611-B7C9-DC53CE74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767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群聊与打卡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7A760C-F296-493D-A5DE-B91D73D0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005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把执行证据沉淀为可追踪事件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3CC1D1-AAA7-4F9F-AD19-35A82B21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572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bce7743d747e9">
            <a:extLst>
              <a:ext uri="{96DAC541-7B7A-43D3-8B79-37D633B846F1}">
                <asvg:svgBlip xmlns:asvg="http://schemas.microsoft.com/office/drawing/2016/SVG/main" r:embed="R915a2dbc6a3844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19850" y="41148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504B24-946C-4798-8237-44E05BC4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767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社群引入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BBC5AD-813C-4858-8328-C8D78208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005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从个人任务扩展到班级、课程、机构协作</a:t>
            </a:r>
          </a:p>
        </p:txBody>
      </p:sp>
    </p:spTree>
    <p:extLst>
      <p:ext uri="{BB962C8B-B14F-4D97-AF65-F5344CB8AC3E}">
        <p14:creationId xmlns:p14="http://schemas.microsoft.com/office/powerpoint/2010/main" val="112019715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1CD0DB-30EE-43A9-BFCF-15891883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D3654-DDBE-414A-943F-B03E6FE8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Appendix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9D95E-E148-4424-A818-B4FB1D4C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安全与可追溯：AI 建议必须能被信任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7B9C8-8278-4789-8683-4C3DFF48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关键决策要有 trace、receipt、纠正与回滚机制。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43040-19CB-46CD-8026-E24D09CA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Appendix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6E2FA-6BD6-40F9-B277-A34E1491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DD8C0-C491-4020-8D71-F90518CE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14625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202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2106A-34B2-4542-A54F-77F3CD8F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Decision Trace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DC44F-E8AC-4CAD-9949-5CE5A7AC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8D0C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8D0C2"/>
                </a:solidFill>
                <a:latin typeface="PingFang SC"/>
                <a:ea typeface="PingFang SC"/>
                <a:cs typeface="PingFang SC"/>
              </a:rPr>
              <a:t>为什么建议先救 TCP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060cd96f046ab">
            <a:extLst>
              <a:ext uri="{96DAC541-7B7A-43D3-8B79-37D633B846F1}">
                <asvg:svgBlip xmlns:asvg="http://schemas.microsoft.com/office/drawing/2016/SVG/main" r:embed="R52321a402b824e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162300" y="33337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DBE81-DBAC-4F97-8725-8C5B0F28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14625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0FA37-7409-4A39-BD16-DCD1F09E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480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Context Receipt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40EC0-6637-4672-88CC-D5A0D525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480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用了哪些资料和用户状态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17b183e1e4214">
            <a:extLst>
              <a:ext uri="{96DAC541-7B7A-43D3-8B79-37D633B846F1}">
                <asvg:svgBlip xmlns:asvg="http://schemas.microsoft.com/office/drawing/2016/SVG/main" r:embed="R815d9885ada6473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48350" y="33337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55D1FC-52E8-4467-B38D-96993CAF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79FE66-DEB0-4DD8-9D89-F809BA26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User Correction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6B8871-7C20-4AB7-9542-B3A729DC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480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用户可纠正：不是没时间，是不会做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37ad061904ca4">
            <a:extLst>
              <a:ext uri="{96DAC541-7B7A-43D3-8B79-37D633B846F1}">
                <asvg:svgBlip xmlns:asvg="http://schemas.microsoft.com/office/drawing/2016/SVG/main" r:embed="Rc8184a4f00e645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34400" y="33337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9677A-4CFD-4BF3-AF32-4A963EC8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14625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C702F3-B07E-4337-86B1-45501BF8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480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Policy Guard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6E4D24-6136-4151-ABA1-A918853E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480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RBAC / kill switch / 审计日志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FAF888-32B0-4D47-9666-8A312111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673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可信不是“我们保证不出错”，而是出错时能看见、能纠正、能把系统带回正确轨道。</a:t>
            </a:r>
          </a:p>
        </p:txBody>
      </p:sp>
    </p:spTree>
    <p:extLst>
      <p:ext uri="{BB962C8B-B14F-4D97-AF65-F5344CB8AC3E}">
        <p14:creationId xmlns:p14="http://schemas.microsoft.com/office/powerpoint/2010/main" val="49202045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22961E-7783-4B3D-9A0E-B66C1777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0C564-99EA-434A-970A-9DB80607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Appendix 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9507B-04ED-4592-9740-2A4890E1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Aurora：自适应认知控制层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1D4F3-C665-4B42-9C2B-FEC4A0B3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把裸模型调用变成带目标、状态、偏好、资料与反馈的 harness。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FD219-467F-4CDB-84D6-3A29959B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Appendix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154EB-8998-4027-AB19-C2D6D726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C6412-2D36-451A-A400-96956EE0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09800"/>
            <a:ext cx="1905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202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E7AFA-1716-4830-B5BC-9FA39809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14575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1B7E5-1EBE-4815-8334-F8F56E10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09800"/>
            <a:ext cx="619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F810F-825B-42D1-8A0B-6A7E9BF6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14575"/>
            <a:ext cx="571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目标 / deadline / 用户情绪 / 当前资料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46ED1-55CC-4A3D-A9DE-611480C4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38450"/>
            <a:ext cx="1905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202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3DB8B-E0EE-45AA-8025-35686449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43225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理解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AA2CB2-2AC3-409E-A973-8D5E64F5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38450"/>
            <a:ext cx="619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DCC7F-9513-43A5-90A0-B7F97EA0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43225"/>
            <a:ext cx="571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多层用户模型 + 场景模式识别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4DE95-82DE-426C-802F-1E2639E9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67100"/>
            <a:ext cx="1905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202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F5859-DCBF-4BB5-AA6F-15DB3BF1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71875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决策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087CF1-8F99-4FE0-86CA-4CA4B493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67100"/>
            <a:ext cx="619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560B2-24FB-4343-A4D6-354523AF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71875"/>
            <a:ext cx="571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诊断、取舍、任务粒度、模型路由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900DC6-88DB-450A-B1CA-51314EED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1905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202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D8CB6-239F-44EB-A83B-66934030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00525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70BF68-8346-4F6E-A6E0-1C811744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619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437175-E0A4-4DE0-B736-7797A7E7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00525"/>
            <a:ext cx="571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任务卡、解释、追问、下一步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D22E4E-F0EB-4551-8C0F-E0D545CB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1905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202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8BDCBB-14C9-4303-A89D-A64218B5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29175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反馈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0F1B9D-AAA3-46E9-B6DB-0C768117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24400"/>
            <a:ext cx="619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E65612-E59F-4296-99A8-189DFB14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29175"/>
            <a:ext cx="571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结果、错因、纠正、trace 回写</a:t>
            </a:r>
          </a:p>
        </p:txBody>
      </p:sp>
    </p:spTree>
    <p:extLst>
      <p:ext uri="{BB962C8B-B14F-4D97-AF65-F5344CB8AC3E}">
        <p14:creationId xmlns:p14="http://schemas.microsoft.com/office/powerpoint/2010/main" val="17512337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197BB2-0C99-4501-A080-804FEAE1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E8166-A296-47D5-8DB5-A45F7C1A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Appendix 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FAC2D-A015-44F6-B970-78374452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知识星图：个人知识库不是笔记堆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BCAF7-6FC9-4FA8-A12A-0773D77C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它记录掌握度、证据、错因和迁移关系。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0272C-8BE7-4B89-A93A-15394FA5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Appendix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4F66A-9DF2-442B-BD2F-B7B7C70C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D8D36-B105-4B5A-9DF3-2302F9A5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90950"/>
            <a:ext cx="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4FD0A-9E3B-47B3-A564-9ED8F208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90950"/>
            <a:ext cx="-1752600" cy="-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90EEC3-1B0B-4368-AA08-33964C34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90950"/>
            <a:ext cx="1390650" cy="-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D6003-9589-4217-8B9C-D6902611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90950"/>
            <a:ext cx="177165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C9A12-FCCF-4077-9CF0-BD10E635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90950"/>
            <a:ext cx="-213360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FA763-D320-4B68-99DE-29B9DC00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90950"/>
            <a:ext cx="-180975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7A184-D417-42B5-AD41-16048937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528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3C1C4-DC4D-4221-BB15-1B9E63AF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9570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TCP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BB2D1-1CA0-4272-98FE-1BFA402C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849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65856C-191C-41F4-ABD7-939CDB25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5908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可靠传输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BC5F10-6E8B-4F1F-A3BB-CBEC321B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8B6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DA826-D3AD-4057-86B4-942AD29F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908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拥塞控制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33C0B-B6A2-4878-92D0-9076D9F9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719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6F4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29650E-D05C-442B-8EC2-77ACCABE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815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差错检测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01B12C-E262-40C2-92E0-BE099333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291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955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43D076-C762-4D05-9FE6-A0D7C929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386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子网划分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8F8D7B-E678-4B20-BF8C-10571460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76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B2A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FB7812-6FBB-4AE3-9358-CED9ED8B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0387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应用层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0C2EB5-09C5-4441-A63C-B584E88A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2190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5FD81E-36D8-4D02-8EBE-2C2C820D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每个节点包含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5EE60C-9318-4AF7-973D-0ABE8E66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掌握证据</a:t>
            </a:r>
          </a:p>
          <a:p xmlns:a="http://schemas.openxmlformats.org/drawingml/2006/main">
            <a:pPr algn="l">
              <a:defRPr sz="127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错因记录</a:t>
            </a:r>
          </a:p>
          <a:p xmlns:a="http://schemas.openxmlformats.org/drawingml/2006/main">
            <a:pPr algn="l">
              <a:defRPr sz="127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资料来源</a:t>
            </a:r>
          </a:p>
          <a:p xmlns:a="http://schemas.openxmlformats.org/drawingml/2006/main">
            <a:pPr algn="l">
              <a:defRPr sz="127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下一步任务</a:t>
            </a:r>
          </a:p>
          <a:p xmlns:a="http://schemas.openxmlformats.org/drawingml/2006/main">
            <a:pPr algn="l">
              <a:defRPr sz="127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可迁移策略</a:t>
            </a:r>
          </a:p>
        </p:txBody>
      </p:sp>
    </p:spTree>
    <p:extLst>
      <p:ext uri="{BB962C8B-B14F-4D97-AF65-F5344CB8AC3E}">
        <p14:creationId xmlns:p14="http://schemas.microsoft.com/office/powerpoint/2010/main" val="73800946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387870-5E40-44B8-9F83-E7DFF28A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A1ABB-A26F-44BE-81BC-AC8D67F3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Appendix 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D5974-300E-47E1-98E2-AFF6D3B3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Skill Extraction：从一次成功中提取可复用方法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6FF27-0E22-4D97-A3B0-142F23B9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系统不是只记住结果，而是提取策略信念并进入 Learning Base。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F07FF-D483-4E61-BA62-32063F7D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Appendix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1B5A0-BC4C-4BA4-83A2-6C1A8058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5B66C-3917-4483-95F2-626921D5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6764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30380-BC0E-437E-A00D-B68B5CE6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Episode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AC5AF-84B7-4BCB-A3FB-A1F6565D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665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一次任务/考试过程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c0453cf6247cd">
            <a:extLst>
              <a:ext uri="{96DAC541-7B7A-43D3-8B79-37D633B846F1}">
                <asvg:svgBlip xmlns:asvg="http://schemas.microsoft.com/office/drawing/2016/SVG/main" r:embed="R5ce8aac5fa634b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67000" y="34861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F62D1-9AB1-4F7D-92B1-6F5D3ACE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86100"/>
            <a:ext cx="16764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699EE-559F-4BB4-8156-761E3BDC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337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B7D89-C300-4E16-8FDC-59FA4B76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7665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结果、错因、纠正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92a57b0714fca">
            <a:extLst>
              <a:ext uri="{96DAC541-7B7A-43D3-8B79-37D633B846F1}">
                <asvg:svgBlip xmlns:asvg="http://schemas.microsoft.com/office/drawing/2016/SVG/main" r:embed="R34f4cf62dc5f4c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57750" y="34861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F9929-BCE5-406B-9D7D-0CC49C20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86100"/>
            <a:ext cx="16764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2D8C9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F175D-6994-476A-AAA3-5C75F566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337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Strategy Belief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9B922D-FF56-42DD-9887-90237DF4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7665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形成策略信念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07ade589f4781">
            <a:extLst>
              <a:ext uri="{96DAC541-7B7A-43D3-8B79-37D633B846F1}">
                <asvg:svgBlip xmlns:asvg="http://schemas.microsoft.com/office/drawing/2016/SVG/main" r:embed="Rad349968fb6b4a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0" y="34861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5B349-B966-444E-AD2E-AEF322DC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86100"/>
            <a:ext cx="16764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52F752-EF65-4C65-A512-B4BFBD5F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337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Learning 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473938-92CD-4F16-ABB3-9283339C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7665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跨目标复用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3810cf558417c">
            <a:extLst>
              <a:ext uri="{96DAC541-7B7A-43D3-8B79-37D633B846F1}">
                <asvg:svgBlip xmlns:asvg="http://schemas.microsoft.com/office/drawing/2016/SVG/main" r:embed="R973ba09040c74b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39250" y="34861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A3F384-5183-419A-8410-166D3DF9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86100"/>
            <a:ext cx="16764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DBFBE9-B56D-481B-A81E-5D71500A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337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Next Goal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301499-F0AC-4B38-A786-1E279403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7665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自动推荐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E6D394-3BAA-4058-AEFF-EF50534C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292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例：计网中验证有效的“先练真题再补理论”，下次数据库考试会成为优先策略候选。</a:t>
            </a:r>
          </a:p>
        </p:txBody>
      </p:sp>
    </p:spTree>
    <p:extLst>
      <p:ext uri="{BB962C8B-B14F-4D97-AF65-F5344CB8AC3E}">
        <p14:creationId xmlns:p14="http://schemas.microsoft.com/office/powerpoint/2010/main" val="49377760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B024A0-C18D-4D6F-8343-40421690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A26A2-8155-400B-A254-3DED100A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Appendix 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18D4E-39BB-4EDD-9233-8C9C17A4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MirrorFish / 多 Agent 推演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E167F-6EEC-482A-95C6-E90937B9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用模拟世界和角色代理提前压力测试策略，而不是只靠真实用户试错。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3AE2C-6A22-47C0-8F18-2BFA9B48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Appendix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FC4A7-1690-4910-93CF-8D791F85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A7ABD-B4BA-441D-95E3-87080EDA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479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202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41B23-7FE5-4312-99E8-88D9FB95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098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目标世界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9D36E-35AF-43BE-BE37-3DA2F5F0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47900"/>
            <a:ext cx="628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E4279-17BD-4FCE-B43F-060404CA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0982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GoalWorldGraph 定义目标、约束、路径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2F688-ACDC-462E-BD73-833F2CCF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6705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202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CF10A-52F9-4439-98B6-DD464602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289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角色代理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73D73-2027-455D-BAC4-922F495E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67050"/>
            <a:ext cx="628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7A1D5-0A78-49A8-B7D0-BFB6DD43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289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学生、导师、系统、责任伙伴多角色交互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977242-65C0-4558-93BD-29B1F528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202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9750B-2642-4EEB-BEF8-AE097D98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481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推演结果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7C5B65-DFA1-4440-A167-434CA253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86200"/>
            <a:ext cx="628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640F68-B390-4533-AE3C-FBF13C3E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4812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发现冲突、风险和失败路径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1E4AC0-D94E-4669-86AE-823DF007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202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F1B699-984C-4A5F-9906-F701A2CC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672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策略修正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758398-A784-4F49-9D8A-43BE8699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05350"/>
            <a:ext cx="628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69E884-5DF2-40E6-8CDC-90819FB9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672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回写计划、提示词、任务模板</a:t>
            </a:r>
          </a:p>
        </p:txBody>
      </p:sp>
    </p:spTree>
    <p:extLst>
      <p:ext uri="{BB962C8B-B14F-4D97-AF65-F5344CB8AC3E}">
        <p14:creationId xmlns:p14="http://schemas.microsoft.com/office/powerpoint/2010/main" val="11057575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EF5DD3-18FB-487E-826C-1EDC06DB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85EE3-BA09-4E6D-9CE4-54E23FD7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Appendix 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5B025-B33B-4C99-A23B-05543359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技术架构：模型能力之外，是一套目标实现系统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41B5C-803B-456A-97B3-28C5EEEB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Python AI Engine、Go Gateway、Flutter、数据库、可信执行和多模型路由协同。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ED5EB-8154-4B77-8D24-CBB88D36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Appendix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7CFBB-DC39-4B53-B442-D45ED7CE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4907A-193A-4E24-8BF2-9DCA32BF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190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DE7EC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128AD-2D59-4C70-BE0A-7AAE3BB4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Flutter Mobile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4F962-B00A-4B0B-B33B-BC6F97D9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2190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EBDD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B8C32E-B1CB-47F7-A4E4-033C2CD8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2415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Go Gateway</a:t>
            </a:r>
          </a:p>
          <a:p xmlns:a="http://schemas.openxmlformats.org/drawingml/2006/main">
            <a:pPr algn="ctr">
              <a:def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WebSocket / HTTP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20198-58FB-46C7-A660-8A20CC6F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2190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2D8C9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C6BFA-030A-4773-922D-E7B30388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Python AI Engine</a:t>
            </a:r>
          </a:p>
          <a:p xmlns:a="http://schemas.openxmlformats.org/drawingml/2006/main">
            <a:pPr algn="ctr">
              <a:def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Aurora / Causal Spine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5F4BC1-71C4-4FA6-9367-46572C0D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190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D9733-F758-40FD-82A5-FCE053AE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2415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Data Layer</a:t>
            </a:r>
          </a:p>
          <a:p xmlns:a="http://schemas.openxmlformats.org/drawingml/2006/main">
            <a:pPr algn="ctr">
              <a:def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PostgreSQL / Redis / Trace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FABD6-D491-4036-A914-09F5EB13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33875"/>
            <a:ext cx="2190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5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862BB-9276-4E41-8AF0-14984CC0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81525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Model Router</a:t>
            </a:r>
          </a:p>
          <a:p xmlns:a="http://schemas.openxmlformats.org/drawingml/2006/main">
            <a:pPr algn="ctr">
              <a:def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DeepSeek / OpenAI / others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7da8bc1684805">
            <a:extLst>
              <a:ext uri="{96DAC541-7B7A-43D3-8B79-37D633B846F1}">
                <asvg:svgBlip xmlns:asvg="http://schemas.microsoft.com/office/drawing/2016/SVG/main" r:embed="Rcd0678d2254f4f3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28950" y="2781300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7f4d0f1d14970">
            <a:extLst>
              <a:ext uri="{96DAC541-7B7A-43D3-8B79-37D633B846F1}">
                <asvg:svgBlip xmlns:asvg="http://schemas.microsoft.com/office/drawing/2016/SVG/main" r:embed="Reb2896797de64a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05450" y="2781300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61a7a8acc49c9">
            <a:extLst>
              <a:ext uri="{96DAC541-7B7A-43D3-8B79-37D633B846F1}">
                <asvg:svgBlip xmlns:asvg="http://schemas.microsoft.com/office/drawing/2016/SVG/main" r:embed="R64747e379a124e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81950" y="2781300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a6408959a4fc8">
            <a:extLst>
              <a:ext uri="{96DAC541-7B7A-43D3-8B79-37D633B846F1}">
                <asvg:svgBlip xmlns:asvg="http://schemas.microsoft.com/office/drawing/2016/SVG/main" r:embed="R7ad4741e5e8c45f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62750" y="35052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61C1F3-3CA4-488F-B006-5B2E69EE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721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技术架构图放附录，主线只讲用户能感知到的结果；答辩时再展开每层如何支撑闭环。</a:t>
            </a:r>
          </a:p>
        </p:txBody>
      </p:sp>
    </p:spTree>
    <p:extLst>
      <p:ext uri="{BB962C8B-B14F-4D97-AF65-F5344CB8AC3E}">
        <p14:creationId xmlns:p14="http://schemas.microsoft.com/office/powerpoint/2010/main" val="140421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BBD9F7-4C02-4532-9693-F1849177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719C9-C220-48AB-A75F-E9CCD20F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Appendix 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DBBA9-AFB9-4E76-B473-872B9EB6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工程验证详情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63F46-DFC1-4DE8-B427-A084D2C8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把“我们做出来了”从口号变成可检查的进展。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9B1A3-4902-4BF2-9D60-CE4AB940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Appendix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49125-EB2C-4A6D-BF1A-BCF36736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F8A80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92F24-0E45-4E68-9FDC-57EF1BDD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1009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E1D9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3BC09-2B02-48BA-83C2-30707333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7647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SparkleGoalBench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F4C91-47F0-43EF-B57B-3B033196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574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57A62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557A62"/>
                </a:solidFill>
                <a:latin typeface="PingFang SC"/>
                <a:ea typeface="PingFang SC"/>
                <a:cs typeface="PingFang SC"/>
              </a:rPr>
              <a:t>24/24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CAD4C-838D-40BC-9455-7A62BC8F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7647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覆盖极端目标场景与闭环路径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04C80-F7D6-4563-A776-DEF8F476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9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14E0B-BA86-4500-9AC2-BE13E9F0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2417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ExamSprintBench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311F8-C738-4146-A09E-94C22823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051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46F4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C46F4D"/>
                </a:solidFill>
                <a:latin typeface="PingFang SC"/>
                <a:ea typeface="PingFang SC"/>
                <a:cs typeface="PingFang SC"/>
              </a:rPr>
              <a:t>12/12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3700B-548A-498A-9D64-13D38E0E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2417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考试冲刺核心路径通过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0EBBD-FA8C-4985-A752-F8AAC8F9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1009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E1D9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F0FCB9-00B8-4B76-A4A1-04849A4C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7187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Aurora Closeout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D7BA4-35BE-45FF-B0D1-57988D9B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528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57A62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557A62"/>
                </a:solidFill>
                <a:latin typeface="PingFang SC"/>
                <a:ea typeface="PingFang SC"/>
                <a:cs typeface="PingFang SC"/>
              </a:rPr>
              <a:t>72/74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136171-CCC3-4CAF-B232-E6079D00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7187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97.3% 验收项 verified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A9E4C8-A512-46AA-BA9F-87C50FF0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1009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9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508D4F-CC0D-4152-9238-3064A8D4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957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移动端黑洞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897622-2D50-40EA-BF05-42B956E2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57A62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557A62"/>
                </a:solidFill>
                <a:latin typeface="PingFang SC"/>
                <a:ea typeface="PingFang SC"/>
                <a:cs typeface="PingFang SC"/>
              </a:rPr>
              <a:t>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D3D48-80D5-4CD3-9BEB-754615DE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关键启动/回退状态已收敛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1AD559-2244-4A9E-8EF0-234CF5D8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E1D9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994C8B-9D3E-4594-895C-AD6ECDE4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6727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2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E2429"/>
                </a:solidFill>
                <a:latin typeface="PingFang SC"/>
                <a:ea typeface="PingFang SC"/>
                <a:cs typeface="PingFang SC"/>
              </a:rPr>
              <a:t>安全机制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D088E8-2CA0-4451-AA6E-0E156878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482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57A62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557A62"/>
                </a:solidFill>
                <a:latin typeface="PingFang SC"/>
                <a:ea typeface="PingFang SC"/>
                <a:cs typeface="PingFang SC"/>
              </a:rPr>
              <a:t>RBAC / trace / kill switch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F798B7-EE9F-473C-8B76-1FE3D889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6727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17A"/>
                </a:solidFill>
                <a:latin typeface="PingFang SC"/>
                <a:ea typeface="PingFang SC"/>
                <a:cs typeface="PingFang SC"/>
              </a:rPr>
              <a:t>访问控制、追踪、开关与审计</a:t>
            </a:r>
          </a:p>
        </p:txBody>
      </p:sp>
    </p:spTree>
    <p:extLst>
      <p:ext uri="{BB962C8B-B14F-4D97-AF65-F5344CB8AC3E}">
        <p14:creationId xmlns:p14="http://schemas.microsoft.com/office/powerpoint/2010/main" val="2103785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2026-05-07T12:48:51.2700000Z</dcterms:created>
  <dcterms:modified xsi:type="dcterms:W3CDTF">2026-05-07T12:48:51.2700000Z</dcterms:modified>
</coreProperties>
</file>