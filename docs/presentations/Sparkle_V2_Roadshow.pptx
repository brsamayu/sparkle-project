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[25 秒]</a:t>
            </a:r>
          </a:p>
          <a:p/>
          <a:p>
            <a:r>
              <a:t>开场不要介绍项目名，直接把评委拉进场景。</a:t>
            </a:r>
          </a:p>
          <a:p/>
          <a:p>
            <a:r>
              <a:t>口播：</a:t>
            </a:r>
          </a:p>
          <a:p>
            <a:r>
              <a:t>"一个学生，7天后计网考试。基本没学。教材、真题、笔记堆了一桌。他打开 ChatGPT 问：我要考计网了，怎么办。ChatGPT 能给他一份复习计划。能解释知识点。能答疑。但它没法保证他把复习真正走完。这就是我们的起点。"</a:t>
            </a:r>
          </a:p>
          <a:p/>
          <a:p>
            <a:r>
              <a:t>关键动作：第一秒就制造画面感。语气平静但紧迫。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秒]</a:t>
            </a:r>
          </a:p>
          <a:p/>
          <a:p>
            <a:r>
              <a:t>口播：</a:t>
            </a:r>
          </a:p>
          <a:p>
            <a:r>
              <a:t>"AI 这么强，为什么一个学生还是没法靠它通过考试？因为面对一个真实目标，缺的不是答案，而是四个东西：</a:t>
            </a:r>
          </a:p>
          <a:p>
            <a:r>
              <a:t>第一，不知道怎么把目标变成可执行的路径。</a:t>
            </a:r>
          </a:p>
          <a:p>
            <a:r>
              <a:t>第二，执行的时候不知道自己做得对不对。</a:t>
            </a:r>
          </a:p>
          <a:p>
            <a:r>
              <a:t>第三，失败了没有反馈——任务打叉就结束了，不知道为什么失败。</a:t>
            </a:r>
          </a:p>
          <a:p>
            <a:r>
              <a:t>第四，下次遇到同样的问题，还是卡住。</a:t>
            </a:r>
          </a:p>
          <a:p/>
          <a:p>
            <a:r>
              <a:t>所有人都在卷模型能力。我们选择卷另一件事——让普通人真的把目标做成。</a:t>
            </a:r>
          </a:p>
          <a:p/>
          <a:p>
            <a:r>
              <a:t>一句话：通用 AI 解决'会不会答'，Sparkle 解决'能不能做成'。"</a:t>
            </a:r>
          </a:p>
          <a:p/>
          <a:p>
            <a:r>
              <a:t>过渡：下一页讲 Sparkle 第一次对话就体现出不同。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秒]</a:t>
            </a:r>
          </a:p>
          <a:p/>
          <a:p>
            <a:r>
              <a:t>这是全 deck 最重要的"认知转换"页。不要讲"Aurora 回答更好"，要证明"决策入口不同"。</a:t>
            </a:r>
          </a:p>
          <a:p/>
          <a:p>
            <a:r>
              <a:t>口播：</a:t>
            </a:r>
          </a:p>
          <a:p>
            <a:r>
              <a:t>"当学生说'7 天后考试，基本没学'——</a:t>
            </a:r>
          </a:p>
          <a:p>
            <a:r>
              <a:t>普通 AI 会怎么做？他给一份完整复习计划。8 章全覆盖。推荐资料。解释知识点。</a:t>
            </a:r>
          </a:p>
          <a:p>
            <a:r>
              <a:t>但这份计划不知道学生基础为零。不知道 7 天不够学完 8 章。不知道哪些内容可以放弃。</a:t>
            </a:r>
          </a:p>
          <a:p/>
          <a:p>
            <a:r>
              <a:t>Sparkle 怎么做？它先不回答。它先做判断：这是抢救模式。基础未知。需要低成本第一步。</a:t>
            </a:r>
          </a:p>
          <a:p>
            <a:r>
              <a:t>所以它不做诊断前不给计划。它要先测三块投入产出比最高的内容。</a:t>
            </a:r>
          </a:p>
          <a:p/>
          <a:p>
            <a:r>
              <a:t>这不是先问两个问题再回答。这是决策系统在运行。</a:t>
            </a:r>
          </a:p>
          <a:p>
            <a:r>
              <a:t>我们给这套决策系统起了个名字叫 Aurora。它让 Sparkle 每次对话前先理解目标、状态、资料和偏好，再决定怎么回应。别人把 AI 能力交给用户自己调，我们帮用户自动调好。"</a:t>
            </a:r>
          </a:p>
          <a:p/>
          <a:p>
            <a:r>
              <a:t>过渡：下面用一个真实案例证明这不是理论。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秒 · 全 deck 最重要的一页之一]</a:t>
            </a:r>
          </a:p>
          <a:p/>
          <a:p>
            <a:r>
              <a:t>口播：</a:t>
            </a:r>
          </a:p>
          <a:p>
            <a:r>
              <a:t>"我们来看 Sparkle 具体怎么做。</a:t>
            </a:r>
          </a:p>
          <a:p/>
          <a:p>
            <a:r>
              <a:t>第 0 天。学生做 12 分钟诊断。Sparkle 发现：1 到 3 章还行，4 到 6 章薄弱，7 到 8 章几乎零基础。</a:t>
            </a:r>
          </a:p>
          <a:p/>
          <a:p>
            <a:r>
              <a:t>接下来是第一个关键决策。Sparkle 分析完考试权重后发现：第 8 章只占约 8% 考分，但学懂需要将近 20 个小时。投入产出比太低。</a:t>
            </a:r>
          </a:p>
          <a:p/>
          <a:p>
            <a:r>
              <a:t>所以它做了一个普通 AI 不会做的事：主动放弃第 8 章。</a:t>
            </a:r>
          </a:p>
          <a:p/>
          <a:p>
            <a:r>
              <a:t>不是给学生一份平均复习的全书计划。而是把 7 天时间集中砸在三块最高转分的内容上。</a:t>
            </a:r>
          </a:p>
          <a:p/>
          <a:p>
            <a:r>
              <a:t>左边是普通 AI 的复习计划：8 章全学，每章不到一天。</a:t>
            </a:r>
          </a:p>
          <a:p>
            <a:r>
              <a:t>右边是 Sparkle：放弃低收益，聚焦 80% 考分。</a:t>
            </a:r>
          </a:p>
          <a:p/>
          <a:p>
            <a:r>
              <a:t>这不是"Sparkle 更聪明"，而是它有决策模型。它知道什么时候该放弃。"</a:t>
            </a:r>
          </a:p>
          <a:p/>
          <a:p>
            <a:r>
              <a:t>过渡：但好的决策只是开始。执行阶段出了问题怎么办？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秒 · 全 deck 灵魂页]</a:t>
            </a:r>
          </a:p>
          <a:p/>
          <a:p>
            <a:r>
              <a:t>口播：</a:t>
            </a:r>
          </a:p>
          <a:p>
            <a:r>
              <a:t>"第 3 天，学生拿到一张任务卡——不是 todo，是一份执行协议。它告诉你：为什么做这个任务、用什么资料、分几步做、卡住了怎么办、做完后系统会更新什么。</a:t>
            </a:r>
          </a:p>
          <a:p/>
          <a:p>
            <a:r>
              <a:t>第 3 天晚上，任务没完成。</a:t>
            </a:r>
          </a:p>
          <a:p>
            <a:r>
              <a:t>在普通 AI 工具里，这就打一个红叉，结束了。</a:t>
            </a:r>
          </a:p>
          <a:p>
            <a:r>
              <a:t>在 Sparkle 里，系统先追问：为什么没做？</a:t>
            </a:r>
          </a:p>
          <a:p/>
          <a:p>
            <a:r>
              <a:t>学生说：不是没时间，是我不会子网划分。</a:t>
            </a:r>
          </a:p>
          <a:p>
            <a:r>
              <a:t>这就是关键。系统改判——从'拖延'改成'知识缺口'。</a:t>
            </a:r>
          </a:p>
          <a:p>
            <a:r>
              <a:t>然后下一张任务卡自动变：原来是刷题，现在改成 worked example + 子网划分专项练习。</a:t>
            </a:r>
          </a:p>
          <a:p/>
          <a:p>
            <a:r>
              <a:t>这是一个闭环。失败不是结束，是系统更新的输入。</a:t>
            </a:r>
          </a:p>
          <a:p>
            <a:r>
              <a:t>这也是为什么我们说 Sparkle 不只回答问题，而是在推进目标。"</a:t>
            </a:r>
          </a:p>
          <a:p/>
          <a:p>
            <a:r>
              <a:t>社群标签一句带过，不展开。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[45 秒]</a:t>
            </a:r>
          </a:p>
          <a:p/>
          <a:p>
            <a:r>
              <a:t>口播：</a:t>
            </a:r>
          </a:p>
          <a:p>
            <a:r>
              <a:t>"考试通过。故事结束了吗？没有。系统记住了这一次所有的有效策略。</a:t>
            </a:r>
          </a:p>
          <a:p/>
          <a:p>
            <a:r>
              <a:t>ChatGPT 用一年，每次对话从零开始。Sparkle 用一年，关于你的成长资产在持续累积。它会知道六件事：</a:t>
            </a:r>
          </a:p>
          <a:p/>
          <a:p>
            <a:r>
              <a:t>第一，最适合你的任务粒度是 25 到 40 分钟，不是 2 小时大任务。</a:t>
            </a:r>
          </a:p>
          <a:p>
            <a:r>
              <a:t>第二，哪些资料真的帮到你了，哪些只是看起来有用。</a:t>
            </a:r>
          </a:p>
          <a:p>
            <a:r>
              <a:t>第三，你失败通常是因为知识前置缺失，而不是懒。</a:t>
            </a:r>
          </a:p>
          <a:p>
            <a:r>
              <a:t>第四，考前先刷真题再补理论，比先看教材效率高得多。</a:t>
            </a:r>
          </a:p>
          <a:p>
            <a:r>
              <a:t>第五，在计网考试中验证有效的策略，会自动推荐到你的数据库考试。</a:t>
            </a:r>
          </a:p>
          <a:p>
            <a:r>
              <a:t>第六，你的责任伙伴见证了你几次关键突破。</a:t>
            </a:r>
          </a:p>
          <a:p/>
          <a:p>
            <a:r>
              <a:t>这些不是用户自己总结的。是 Aurora 在每次决策中自动积累的，知识星图持续沉淀的。</a:t>
            </a:r>
          </a:p>
          <a:p/>
          <a:p>
            <a:r>
              <a:t>一句话：短期，帮你过眼前这一关。长期，沉淀你怎么变强。"</a:t>
            </a:r>
          </a:p>
          <a:p/>
          <a:p>
            <a:r>
              <a:t>过渡：好，现在你可能在想：为什么这些 ChatGPT 做不到？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[50 秒]</a:t>
            </a:r>
          </a:p>
          <a:p/>
          <a:p>
            <a:r>
              <a:t>口播：</a:t>
            </a:r>
          </a:p>
          <a:p>
            <a:r>
              <a:t>"为什么现有产品做不到这些？不是因为它们不够好，而是因为它们设计的目标不同。</a:t>
            </a:r>
          </a:p>
          <a:p/>
          <a:p>
            <a:r>
              <a:t>通用大模型——ChatGPT、Claude、DeepSeek——单次推理和生成能力是天花板级别的。但用户要自己管理目标和上下文。Sparkle 用 Aurora 自动组装上下文，加上目标闭环。</a:t>
            </a:r>
          </a:p>
          <a:p/>
          <a:p>
            <a:r>
              <a:t>豆包这类通用助手，易用性很强，但更偏向问答搜索。Sparkle 做的是任务执行、错因反馈和策略学习。</a:t>
            </a:r>
          </a:p>
          <a:p/>
          <a:p>
            <a:r>
              <a:t>解题和学习平台知识点覆盖强，但难形成跨时间的个体策略。</a:t>
            </a:r>
          </a:p>
          <a:p/>
          <a:p>
            <a:r>
              <a:t>校内 AI 平台资源和场景近，但往往是资源入口，不是个体化目标推进系统。</a:t>
            </a:r>
          </a:p>
          <a:p/>
          <a:p>
            <a:r>
              <a:t>还有一个维度——可信。通用 AI 给了建议不解释为什么。Sparkle 每次关键决策可追溯、可纠正、可回滚。</a:t>
            </a:r>
          </a:p>
          <a:p/>
          <a:p>
            <a:r>
              <a:t>一句话：他们优化单点能力。我们优化目标完成过程。这是两个不同的赛道。"</a:t>
            </a:r>
          </a:p>
          <a:p/>
          <a:p>
            <a:r>
              <a:t>不说"别人做不到"，说"他们优化单点，我们优化过程"。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秒]</a:t>
            </a:r>
          </a:p>
          <a:p/>
          <a:p>
            <a:r>
              <a:t>口播：</a:t>
            </a:r>
          </a:p>
          <a:p>
            <a:r>
              <a:t>"到这里你可能在想：这真的做出来了吗？</a:t>
            </a:r>
          </a:p>
          <a:p>
            <a:r>
              <a:t>是的。Sparkle 不是 PPT 项目。</a:t>
            </a:r>
          </a:p>
          <a:p/>
          <a:p>
            <a:r>
              <a:t>我们用 24 种极端场景测试了系统——包括零基础学生、多目标冲突、危机模式、疲劳模式。全部通过。</a:t>
            </a:r>
          </a:p>
          <a:p>
            <a:r>
              <a:t>考试冲刺全链路——从诊断到考试结果追踪——12 个场景全部验证。</a:t>
            </a:r>
          </a:p>
          <a:p>
            <a:r>
              <a:t>72 个验收项里 74 个 checkpoint，97.3% 通过。核心 guard 64 个全绿。移动端零黑屏 bug。</a:t>
            </a:r>
          </a:p>
          <a:p>
            <a:r>
              <a:t>三端全栈已搭建：Flutter 移动端、Go 网关、Python AI 引擎。</a:t>
            </a:r>
          </a:p>
          <a:p/>
          <a:p>
            <a:r>
              <a:t>这是我们产品的真实截图——任务卡、知识星图、对话决策界面。后续会替换为最新版本。"</a:t>
            </a:r>
          </a:p>
          <a:p/>
          <a:p>
            <a:r>
              <a:t>暗示力量：我们是能交付的团队。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[40 秒]</a:t>
            </a:r>
          </a:p>
          <a:p/>
          <a:p>
            <a:r>
              <a:t>口播：</a:t>
            </a:r>
          </a:p>
          <a:p>
            <a:r>
              <a:t>"为什么我们能把这个很难的系统做出来？</a:t>
            </a:r>
          </a:p>
          <a:p>
            <a:r>
              <a:t>因为这个项目需要的不是单一能力，而是五层能力的交叉。</a:t>
            </a:r>
          </a:p>
          <a:p/>
          <a:p>
            <a:r>
              <a:t>产品洞察：为什么选 7 天考试救急作为北极星，而不是做一个通用的学习问答？</a:t>
            </a:r>
          </a:p>
          <a:p>
            <a:r>
              <a:t>AI 系统：Aurora、策略闭环、用户模型、因果控制链——这些不是 prompt engineering。</a:t>
            </a:r>
          </a:p>
          <a:p>
            <a:r>
              <a:t>全栈工程：Flutter 移动端、Go 网关、Python AI 引擎，三端全栈。</a:t>
            </a:r>
          </a:p>
          <a:p>
            <a:r>
              <a:t>教育场景：考试冲刺是真实刚需，需要学习科学的判断。</a:t>
            </a:r>
          </a:p>
          <a:p>
            <a:r>
              <a:t>安全治理：53+ 条治理规则，全链路可追溯。</a:t>
            </a:r>
          </a:p>
          <a:p/>
          <a:p>
            <a:r>
              <a:t>我们的导师黄亚坤副教授，北邮计算机学院，在研究方法、技术路线和实验设计上全程把关。</a:t>
            </a:r>
          </a:p>
          <a:p/>
          <a:p>
            <a:r>
              <a:t>团队四个人，各有分工。这不是一个人靠 prompt 拼出来的项目。"</a:t>
            </a:r>
          </a:p>
          <a:p/>
          <a:p>
            <a:r>
              <a:t>不说"我们很强"，说"这个项目需要这五种能力，我们团队恰好覆盖"。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[35 秒]</a:t>
            </a:r>
          </a:p>
          <a:p/>
          <a:p>
            <a:r>
              <a:t>口播：</a:t>
            </a:r>
          </a:p>
          <a:p>
            <a:r>
              <a:t>"我们的路径很清晰。现在：北邮试点，用考试冲刺验证 PMF。</a:t>
            </a:r>
          </a:p>
          <a:p>
            <a:r>
              <a:t>近期：扩展到更多学科、更多高校。C 端订阅加机构合作。</a:t>
            </a:r>
          </a:p>
          <a:p>
            <a:r>
              <a:t>中期：从考试延伸到项目交付、求职、科研——跨目标迁移。</a:t>
            </a:r>
          </a:p>
          <a:p>
            <a:r>
              <a:t>长期：AI-native Goal OS——不只是学习，是任何目标都能推进。</a:t>
            </a:r>
          </a:p>
          <a:p/>
          <a:p>
            <a:r>
              <a:t>商业上两条线：C 端订阅，考试是刚需，学生愿意为通过付费。D 端机构合作，企业培训场景。</a:t>
            </a:r>
          </a:p>
          <a:p/>
          <a:p>
            <a:r>
              <a:t>一句话：深度契合国家人工智能+行动和教育数字化战略。"</a:t>
            </a:r>
          </a:p>
          <a:p/>
          <a:p>
            <a:r>
              <a:t>快过，不展开。留给收束。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[30 秒 · 情绪收束]</a:t>
            </a:r>
          </a:p>
          <a:p/>
          <a:p>
            <a:r>
              <a:t>口播：</a:t>
            </a:r>
          </a:p>
          <a:p>
            <a:r>
              <a:t>"让我们回到那个学生。7 天前，他面对计网考试，基本没学。7 天后，他通过了。</a:t>
            </a:r>
          </a:p>
          <a:p>
            <a:r>
              <a:t>不是因为 Sparkle 比他聪明。</a:t>
            </a:r>
          </a:p>
          <a:p>
            <a:r>
              <a:t>而是因为 Sparkle 帮他做了那些他不知道该怎么做的决策——该救哪三块、该放弃什么、资料怎么用、失败后下一步变什么。</a:t>
            </a:r>
          </a:p>
          <a:p/>
          <a:p>
            <a:r>
              <a:t>三句话，我们希望评委记住：</a:t>
            </a:r>
          </a:p>
          <a:p>
            <a:r>
              <a:t>第一，Sparkle 不只是答题，而是帮学生把目标做成。</a:t>
            </a:r>
          </a:p>
          <a:p>
            <a:r>
              <a:t>第二，7 天考试救急，是我们证明价值的第一战场。</a:t>
            </a:r>
          </a:p>
          <a:p>
            <a:r>
              <a:t>第三，长期来看，它会沉淀每个人自己的成长方法。</a:t>
            </a:r>
          </a:p>
          <a:p/>
          <a:p>
            <a:r>
              <a:t>Sparkle——让 AI 不只会讲题，而是真的陪你把目标走完。</a:t>
            </a:r>
          </a:p>
          <a:p/>
          <a:p>
            <a:r>
              <a:t>谢谢。"</a:t>
            </a:r>
          </a:p>
          <a:p/>
          <a:p>
            <a:r>
              <a:t>最后 10 秒留白。让评委记住那个从恐慌到通过的学生。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答辩问题：'你们只有 AI 对话吗？社群是怎么做的？'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答辩问题：'AI 的建议可信吗？出了问题谁负责？数据安全怎么保证？'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答辩问题：'Aurora 到底是什么？它不是又一个推荐算法吗？'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答辩问题：'个人知识管理怎么做的？和 Notion/文档管理有什么区别？'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答辩问题：'系统怎么越用越好？你说是学习，具体怎么学的？'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答辩问题：'你们的策略怎么验证有效？怎么保证不会给学生错误的建议？'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答辩问题：'你们的技术方案是什么样的？整体架构介绍一下。'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答辩问题：'你们做到什么程度了？有什么具体数据吗？'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0"/>
              </a:spcAft>
              <a:defRPr sz="12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0">
                <a:solidFill>
                  <a:srgbClr val="FFFFFF"/>
                </a:solidFill>
                <a:latin typeface="Microsoft YaHei"/>
              </a:defRPr>
            </a:pPr>
            <a:r>
              <a:t>天后考试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20"/>
              </a:spcAft>
              <a:defRPr sz="2400" b="0">
                <a:solidFill>
                  <a:srgbClr val="BBBBCC"/>
                </a:solidFill>
                <a:latin typeface="Microsoft YaHei"/>
              </a:defRPr>
            </a:pPr>
            <a:r>
              <a:t>基本没学。资料一堆。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560"/>
              </a:spcAft>
              <a:defRPr sz="5200" b="1">
                <a:solidFill>
                  <a:srgbClr val="F59E0B"/>
                </a:solidFill>
                <a:latin typeface="Microsoft YaHei"/>
              </a:defRPr>
            </a:pPr>
            <a:r>
              <a:t>AI 能救吗？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ChatGPT 能答题，但没法保证他把复习走完。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5943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839"/>
              </a:spcAft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Sparkle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355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60"/>
              </a:spcAft>
              <a:defRPr sz="1200" b="0">
                <a:solidFill>
                  <a:srgbClr val="6B7280"/>
                </a:solidFill>
                <a:latin typeface="Microsoft YaHei"/>
              </a:defRPr>
            </a:pPr>
            <a:r>
              <a:t>鸿雁杯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AI 很强，但普通人离目标没有更近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1E293B"/>
                </a:solidFill>
                <a:latin typeface="Microsoft YaHei"/>
              </a:defRPr>
            </a:pPr>
            <a:r>
              <a:t>面对一个真实目标，缺的不是答案，而是四件 AI 做不到的事：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2560320" cy="2560320"/>
          </a:xfrm>
          <a:prstGeom prst="round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56032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2563EB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目标 → 路径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不知道从哪里开始</a:t>
            </a:r>
            <a:br/>
            <a:r>
              <a:t>什么该做、什么该放弃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2011680"/>
            <a:ext cx="2560320" cy="256032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2011680"/>
            <a:ext cx="25603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路径 → 执行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做了但不知道对不对</a:t>
            </a:r>
            <a:br/>
            <a:r>
              <a:t>卡住了不知道问谁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932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2560320" cy="256032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2011680"/>
            <a:ext cx="25603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EF444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执行 → 反馈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任务失败了就结束了</a:t>
            </a:r>
            <a:br/>
            <a:r>
              <a:t>不知道为什么失败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3960" y="3017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2011680"/>
            <a:ext cx="2560320" cy="256032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52560" y="2011680"/>
            <a:ext cx="25603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8B5CF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7432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反馈 → 修正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60" y="32004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下次同样的问题</a:t>
            </a:r>
            <a:br/>
            <a:r>
              <a:t>还是同样卡住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5029200"/>
            <a:ext cx="110642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1">
                <a:solidFill>
                  <a:srgbClr val="2563EB"/>
                </a:solidFill>
                <a:latin typeface="Microsoft YaHei"/>
              </a:defRPr>
            </a:pPr>
            <a:r>
              <a:t>所有人都在卷模型能力。我们选择卷另一件事：让普通人真的把目标做成。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通用 AI 解决"会不会答"。Sparkle 解决"能不能做成"。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第一次对话就不一样：不是先回答，是先决策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Aurora 在每次对话前，先理解目标、状态、资料和偏好，再决定怎么回应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3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029200" cy="4572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普通 AI：收到问题 → 直接回答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103120"/>
            <a:ext cx="1828800" cy="548640"/>
          </a:xfrm>
          <a:prstGeom prst="round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48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"7天后考计网</a:t>
            </a:r>
            <a:br/>
            <a:r>
              <a:t>基本没学"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2560320" cy="22860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→ 推荐一份完整复习计划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→ 包含全部 8 章内容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→ 解释重点知识点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→ 推荐参考书和视频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900" b="1">
                <a:solidFill>
                  <a:srgbClr val="EF4444"/>
                </a:solidFill>
                <a:latin typeface="Microsoft YaHei"/>
              </a:defRPr>
            </a:pPr>
            <a:r>
              <a:t>❌ 不知道学生基础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EF4444"/>
                </a:solidFill>
                <a:latin typeface="Microsoft YaHei"/>
              </a:defRPr>
            </a:pPr>
            <a:r>
              <a:t>❌ 不知道哪些能放弃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EF4444"/>
                </a:solidFill>
                <a:latin typeface="Microsoft YaHei"/>
              </a:defRPr>
            </a:pPr>
            <a:r>
              <a:t>❌ 不知道 7 天够不够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39"/>
              </a:spcAft>
              <a:defRPr sz="2800" b="1">
                <a:solidFill>
                  <a:srgbClr val="6B7280"/>
                </a:solidFill>
                <a:latin typeface="Microsoft YaHei"/>
              </a:defRPr>
            </a:pPr>
            <a:r>
              <a:t>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0" y="1371600"/>
            <a:ext cx="50292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Sparkle：先判断场景 → 再决定回应方式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2103120"/>
            <a:ext cx="1828800" cy="548640"/>
          </a:xfrm>
          <a:prstGeom prst="round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1488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"7天后考计网</a:t>
            </a:r>
            <a:br/>
            <a:r>
              <a:t>基本没学"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0" y="2103120"/>
            <a:ext cx="2560320" cy="2286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2240280"/>
            <a:ext cx="2286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20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→ 识别：7天抢救模式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→ 先不推荐资料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→ 要求做 12 分钟诊断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→ 判断基础+考试权重</a:t>
            </a:r>
          </a:p>
          <a:p>
            <a:pPr algn="l">
              <a:spcAft>
                <a:spcPts val="20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200"/>
              </a:spcAft>
              <a:defRPr sz="900" b="1">
                <a:solidFill>
                  <a:srgbClr val="10B981"/>
                </a:solidFill>
                <a:latin typeface="Microsoft YaHei"/>
              </a:defRPr>
            </a:pPr>
            <a:r>
              <a:t>✓ 知道该先测哪三块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10B981"/>
                </a:solidFill>
                <a:latin typeface="Microsoft YaHei"/>
              </a:defRPr>
            </a:pPr>
            <a:r>
              <a:t>✓ 知道该放弃哪部分</a:t>
            </a:r>
          </a:p>
          <a:p>
            <a:pPr algn="l">
              <a:spcAft>
                <a:spcPts val="200"/>
              </a:spcAft>
              <a:defRPr sz="900" b="1">
                <a:solidFill>
                  <a:srgbClr val="10B981"/>
                </a:solidFill>
                <a:latin typeface="Microsoft YaHei"/>
              </a:defRPr>
            </a:pPr>
            <a:r>
              <a:t>✓ 每一步基于决策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110642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Aurora 不是人格，是自适应决策层：不裸调模型，先组装上下文再回应。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别人把 AI 能力交给用户自己调。Sparkle 用 Aurora 帮用户自动调好。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7 天救急 · 上：诊断 + 主动放弃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极限压力测试：时间少、基础差、资料乱、必须取舍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4 / 11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828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874519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1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第 0 天</a:t>
            </a:r>
          </a:p>
        </p:txBody>
      </p:sp>
      <p:sp>
        <p:nvSpPr>
          <p:cNvPr id="9" name="Rectangle 8"/>
          <p:cNvSpPr/>
          <p:nvPr/>
        </p:nvSpPr>
        <p:spPr>
          <a:xfrm>
            <a:off x="960120" y="2286000"/>
            <a:ext cx="27432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60" y="2560320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417320" y="2423160"/>
            <a:ext cx="47548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514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时刻 1：12 分钟诊断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3464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300"/>
              </a:spcAft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✓ 第 1-3 章：掌握度 75% — 快速过即可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✓ 第 4-6 章：掌握度 30% — 需要重点投入</a:t>
            </a:r>
          </a:p>
          <a:p>
            <a:pPr algn="l">
              <a:spcAft>
                <a:spcPts val="300"/>
              </a:spcAft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✓ 第 7-8 章：掌握度 5% — 几乎零基础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结合历年考点分布和 7 天 deadline...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420624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17320" y="3931920"/>
            <a:ext cx="4754880" cy="201168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00200" y="4023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时刻 2：主动放弃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34340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300"/>
              </a:spcAft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第 8 章考分占比低（~8%），学习成本高（~20h）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投入产出比太低 → 直接放弃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把时间集中在第 4-6 章 + 历年真题</a:t>
            </a:r>
          </a:p>
          <a:p>
            <a:pPr algn="l">
              <a:spcAft>
                <a:spcPts val="300"/>
              </a:spcAft>
              <a:defRPr sz="1100" b="0">
                <a:solidFill>
                  <a:srgbClr val="1E293B"/>
                </a:solidFill>
                <a:latin typeface="Microsoft YaHei"/>
              </a:defRPr>
            </a:pPr>
          </a:p>
          <a:p>
            <a:pPr algn="l">
              <a:spcAft>
                <a:spcPts val="300"/>
              </a:spcAft>
              <a:defRPr sz="1100" b="1">
                <a:solidFill>
                  <a:srgbClr val="1E293B"/>
                </a:solidFill>
                <a:latin typeface="Microsoft YaHei"/>
              </a:defRPr>
            </a:pPr>
            <a:r>
              <a:t>→ 生成最小通过路径：三块最高转分内容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1920240"/>
            <a:ext cx="4572000" cy="18288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20116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EF4444"/>
                </a:solidFill>
                <a:latin typeface="Microsoft YaHei"/>
              </a:defRPr>
            </a:pPr>
            <a:r>
              <a:t>普通 AI 的复习计划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377440"/>
            <a:ext cx="40233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6B7280"/>
                </a:solidFill>
                <a:latin typeface="Microsoft YaHei"/>
              </a:defRPr>
            </a:pPr>
            <a:r>
              <a:t>第1章 概述  ·  第2章 物理层  ·  第3章 数据链路层</a:t>
            </a:r>
            <a:br/>
            <a:r>
              <a:t>第4章 网络层  ·  第5章 传输层  ·  第6章 应用层</a:t>
            </a:r>
            <a:br/>
            <a:r>
              <a:t>第7章 网络安全  ·  第8章 多媒体网络</a:t>
            </a:r>
            <a:br/>
            <a:br/>
            <a:r>
              <a:t>→ 平均用力，7 天学完 8 章 = 每章不到 1 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4023360"/>
            <a:ext cx="4572000" cy="2103120"/>
          </a:xfrm>
          <a:prstGeom prst="roundRect">
            <a:avLst/>
          </a:prstGeom>
          <a:solidFill>
            <a:srgbClr val="D1FAE5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0" y="4114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Sparkle 的最小通过路径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480560"/>
            <a:ext cx="4023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重点 1  第 4-5 章（网络层 + 传输层） → 35% 考分</a:t>
            </a:r>
            <a:br/>
            <a:r>
              <a:t>重点 2  第 6 章（应用层） + 历年真题 → 25% 考分</a:t>
            </a:r>
            <a:br/>
            <a:r>
              <a:t>重点 3  第 1-3 章快速复习 + 错题强化 → 20% 考分</a:t>
            </a:r>
            <a:br/>
            <a:r>
              <a:t>放弃     第 7-8 章 → 8% 考分，学习成本过高</a:t>
            </a:r>
            <a:br/>
            <a:br/>
            <a:r>
              <a:t>→ 目标：覆盖 80% 考分，投入产出比最大化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7 天救急 · 下：任务卡 + 失败重规划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失败不是结束，是系统更新的开始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5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每天的 Task Card：不是 todo，是执行协议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828800"/>
            <a:ext cx="411480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41148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Day 3 · 网络层核心协议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t>🎯 为什么做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IP/子网划分考分占比最高，你的薄弱点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t>📚 用什么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186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教材第 4 章 + 2024 真题卷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t>📋 怎么做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8587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① 看 worked example (15min)</a:t>
            </a:r>
            <a:br/>
            <a:r>
              <a:t>② 做 3 道变式题 (20min)</a:t>
            </a:r>
            <a:br/>
            <a:r>
              <a:t>③ 小测验证 (10min)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976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2563EB"/>
                </a:solidFill>
                <a:latin typeface="Microsoft YaHei"/>
              </a:defRPr>
            </a:pPr>
            <a:r>
              <a:t>🆘 卡住怎么办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49884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先看解题录像；还不会 → 标记，系统调整下一张卡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37160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第 3 天晚：任务未完成 → 不是打叉，是追问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03520" y="1920240"/>
            <a:ext cx="1325880" cy="2286000"/>
          </a:xfrm>
          <a:prstGeom prst="roundRect">
            <a:avLst/>
          </a:prstGeom>
          <a:solidFill>
            <a:srgbClr val="FEE2E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59" y="20116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未完成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59" y="2377440"/>
            <a:ext cx="1143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25 分钟刷题任务</a:t>
            </a:r>
            <a:br/>
            <a:r>
              <a:t>未完成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920240"/>
            <a:ext cx="1325880" cy="228600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20116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归因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2377440"/>
            <a:ext cx="1143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系统追问：为什么？</a:t>
            </a:r>
            <a:br/>
            <a:r>
              <a:t>用户："不是没时间</a:t>
            </a:r>
            <a:br/>
            <a:r>
              <a:t>是不会子网划分"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1920240"/>
            <a:ext cx="1325880" cy="2286000"/>
          </a:xfrm>
          <a:prstGeom prst="roundRect">
            <a:avLst/>
          </a:prstGeom>
          <a:solidFill>
            <a:srgbClr val="DBE4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20116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1">
                <a:solidFill>
                  <a:srgbClr val="2563EB"/>
                </a:solidFill>
                <a:latin typeface="Microsoft YaHei"/>
              </a:defRPr>
            </a:pPr>
            <a:r>
              <a:t>改判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2377440"/>
            <a:ext cx="1143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从"拖延"改为</a:t>
            </a:r>
            <a:br/>
            <a:r>
              <a:t>"知识缺口"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274320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92640" y="1920240"/>
            <a:ext cx="1325880" cy="228600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2011680"/>
            <a:ext cx="1143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30"/>
              </a:spcAft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重规划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377440"/>
            <a:ext cx="1143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1E293B"/>
                </a:solidFill>
                <a:latin typeface="Microsoft YaHei"/>
              </a:defRPr>
            </a:pPr>
            <a:r>
              <a:t>下一张卡自动换</a:t>
            </a:r>
            <a:br/>
            <a:r>
              <a:t>worked example</a:t>
            </a:r>
            <a:br/>
            <a:r>
              <a:t>+ 子网专项练习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577840"/>
            <a:ext cx="110642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普通工具：任务未完成 = "失败"。Sparkle：任务未完成 → 归因 → 改判 → 下一张卡自动变化。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172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必要时，任务承诺可被责任伙伴见证 → 社群共调节（详见附录）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用一年后，留下的不是聊天记录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Sparkle 积累的是"一个人如何做成事"的证据与方法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6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1E293B"/>
                </a:solidFill>
                <a:latin typeface="Microsoft YaHei"/>
              </a:defRPr>
            </a:pPr>
            <a:r>
              <a:t>ChatGPT 用一年：每次对话从零开始。Sparkle 用一年：关于你的成长资产持续累积。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2011680"/>
            <a:ext cx="17373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2563EB"/>
                </a:solidFill>
                <a:latin typeface="Microsoft YaHei"/>
              </a:defRPr>
            </a:pPr>
            <a:r>
              <a:t>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任务粒度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10896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适合 25-40 分钟</a:t>
            </a:r>
            <a:br/>
            <a:r>
              <a:t>的任务卡，不是</a:t>
            </a:r>
            <a:br/>
            <a:r>
              <a:t>2 小时大任务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2011680"/>
            <a:ext cx="17373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2563EB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资料有效性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10896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哪些资料真的帮你</a:t>
            </a:r>
            <a:br/>
            <a:r>
              <a:t>学会了；哪些只是</a:t>
            </a:r>
            <a:br/>
            <a:r>
              <a:t>看起来有用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2011680"/>
            <a:ext cx="17373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2563EB"/>
                </a:solidFill>
                <a:latin typeface="Microsoft YaHei"/>
              </a:defRPr>
            </a:pPr>
            <a:r>
              <a:t>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错因模式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310896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你的失败通常来自</a:t>
            </a:r>
            <a:br/>
            <a:r>
              <a:t>知识前置缺失，而</a:t>
            </a:r>
            <a:br/>
            <a:r>
              <a:t>不是拖延或偷懒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2011680"/>
            <a:ext cx="17373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2563EB"/>
                </a:solidFill>
                <a:latin typeface="Microsoft YaHei"/>
              </a:defRPr>
            </a:pPr>
            <a:r>
              <a:t>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高压策略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10896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考前先刷真题再补</a:t>
            </a:r>
            <a:br/>
            <a:r>
              <a:t>理论，比先看教材</a:t>
            </a:r>
            <a:br/>
            <a:r>
              <a:t>效率高 3 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20" y="2011680"/>
            <a:ext cx="17373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8388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2563EB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策略迁移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10896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计网考试用过的有</a:t>
            </a:r>
            <a:br/>
            <a:r>
              <a:t>效策略，自动推荐</a:t>
            </a:r>
            <a:br/>
            <a:r>
              <a:t>到数据库考试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2011680"/>
            <a:ext cx="173736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04120" y="2194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2563EB"/>
                </a:solidFill>
                <a:latin typeface="Microsoft YaHei"/>
              </a:defRPr>
            </a:pPr>
            <a:r>
              <a:t>🤝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04120" y="265176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社群资产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04120" y="3108960"/>
            <a:ext cx="1463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责任伙伴见证了你</a:t>
            </a:r>
            <a:br/>
            <a:r>
              <a:t>几次关键突破；群</a:t>
            </a:r>
            <a:br/>
            <a:r>
              <a:t>体错因帮你避坑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5029200"/>
            <a:ext cx="110642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这些不是用户自己总结的——是 Aurora 在每一次决策中自动积累、知识星图持续沉淀的。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7607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短期，帮你过眼前这一关。长期，沉淀你怎么变强。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为什么竞品难做到：不是单点弱，是缺闭环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现有 AI 优化单次交互质量。Sparkle 优化目标完成过程。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7 / 11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743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1E293B"/>
                </a:solidFill>
                <a:latin typeface="Microsoft YaHei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3200400" y="1280160"/>
            <a:ext cx="2926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307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他们强在哪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2926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307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缺什么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5440" y="1280160"/>
            <a:ext cx="2926080" cy="411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72600" y="13075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Sparkle 怎么补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28800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0F172A"/>
                </a:solidFill>
                <a:latin typeface="Microsoft YaHei"/>
              </a:defRPr>
            </a:pPr>
            <a:r>
              <a:t>通用大模型</a:t>
            </a:r>
            <a:br/>
            <a:r>
              <a:t>(ChatGPT/Claude</a:t>
            </a:r>
            <a:br/>
            <a:r>
              <a:t>/DeepSeek)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1828800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19202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最强单次推理</a:t>
            </a:r>
            <a:br/>
            <a:r>
              <a:t>与内容生成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828800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用户自己管理</a:t>
            </a:r>
            <a:br/>
            <a:r>
              <a:t>目标与上下文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828800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192024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Aurora 自动组装</a:t>
            </a:r>
            <a:br/>
            <a:r>
              <a:t>上下文 + 目标闭环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30752"/>
            <a:ext cx="274320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22191"/>
            <a:ext cx="24688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0F172A"/>
                </a:solidFill>
                <a:latin typeface="Microsoft YaHei"/>
              </a:defRPr>
            </a:pPr>
            <a:r>
              <a:t>通用助手</a:t>
            </a:r>
            <a:br/>
            <a:r>
              <a:t>(豆包等)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3730752"/>
            <a:ext cx="2926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37560" y="3822191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易用、入口低</a:t>
            </a:r>
            <a:br/>
            <a:r>
              <a:t>学习辅助广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730752"/>
            <a:ext cx="2926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3822191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偏问答/搜索</a:t>
            </a:r>
            <a:br/>
            <a:r>
              <a:t>/文档处理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3730752"/>
            <a:ext cx="292608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822191"/>
            <a:ext cx="2651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任务执行 + 错因</a:t>
            </a:r>
            <a:br/>
            <a:r>
              <a:t>反馈 + 策略学习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181344"/>
            <a:ext cx="274320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6272783"/>
            <a:ext cx="246888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0F172A"/>
                </a:solidFill>
                <a:latin typeface="Microsoft YaHei"/>
              </a:defRPr>
            </a:pPr>
            <a:r>
              <a:t>解题/学习平台</a:t>
            </a:r>
            <a:br/>
            <a:r>
              <a:t>(作业帮/夸克等)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0" y="6181344"/>
            <a:ext cx="29260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6272783"/>
            <a:ext cx="26517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知识点和题</a:t>
            </a:r>
            <a:br/>
            <a:r>
              <a:t>库覆盖强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6181344"/>
            <a:ext cx="29260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6272783"/>
            <a:ext cx="26517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难形成跨时间</a:t>
            </a:r>
            <a:br/>
            <a:r>
              <a:t>个体策略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235440" y="6181344"/>
            <a:ext cx="29260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72600" y="6272783"/>
            <a:ext cx="2651760" cy="1920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错因 → 重规划</a:t>
            </a:r>
            <a:br/>
            <a:r>
              <a:t>→ 策略记忆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8357616"/>
            <a:ext cx="27432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8449056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1">
                <a:solidFill>
                  <a:srgbClr val="0F172A"/>
                </a:solidFill>
                <a:latin typeface="Microsoft YaHei"/>
              </a:defRPr>
            </a:pPr>
            <a:r>
              <a:t>校内 AI 平台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0" y="8357616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37560" y="8449056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资源和场景</a:t>
            </a:r>
            <a:br/>
            <a:r>
              <a:t>贴近学生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8357616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355080" y="8449056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常是资源/问答</a:t>
            </a:r>
            <a:br/>
            <a:r>
              <a:t>入口型产品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235440" y="8357616"/>
            <a:ext cx="29260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72600" y="8449056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个体化目标推进</a:t>
            </a:r>
            <a:br/>
            <a:r>
              <a:t>系统，非入口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10396728"/>
            <a:ext cx="1143000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1062532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🔒 可信维度：通用 AI 给建议不解释为什么；Sparkle 关键决策可追溯、可纠正、可回滚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1103680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90"/>
              </a:spcAft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他们优化单点能力。Sparkle 优化目标完成过程。这是两个不同的赛道。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不是概念：已有可运行系统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24 种极端场景全部通过。不是 PPT 项目。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8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697480" cy="2560320"/>
          </a:xfrm>
          <a:prstGeom prst="roundRect">
            <a:avLst/>
          </a:prstGeom>
          <a:solidFill>
            <a:srgbClr val="DBE4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  <a:defRPr sz="4200" b="1">
                <a:solidFill>
                  <a:srgbClr val="2563EB"/>
                </a:solidFill>
                <a:latin typeface="Microsoft YaHei"/>
              </a:defRPr>
            </a:pPr>
            <a:r>
              <a:t>24/24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极端场景全通过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零基础学生、多目标冲突、</a:t>
            </a:r>
            <a:br/>
            <a:r>
              <a:t>危机模式、疲劳模式</a:t>
            </a:r>
            <a:br/>
            <a:r>
              <a:t>—— 全部覆盖并通过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463040"/>
            <a:ext cx="2697480" cy="256032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  <a:defRPr sz="4200" b="1">
                <a:solidFill>
                  <a:srgbClr val="10B981"/>
                </a:solidFill>
                <a:latin typeface="Microsoft YaHei"/>
              </a:defRPr>
            </a:pPr>
            <a:r>
              <a:t>12/12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2331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ExamSprint 专项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7 天考试冲刺全链路</a:t>
            </a:r>
            <a:br/>
            <a:r>
              <a:t>从诊断到考试结果追踪</a:t>
            </a:r>
            <a:br/>
            <a:r>
              <a:t>—— 场景全部验证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463040"/>
            <a:ext cx="2697480" cy="25603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  <a:defRPr sz="4200" b="1">
                <a:solidFill>
                  <a:srgbClr val="F59E0B"/>
                </a:solidFill>
                <a:latin typeface="Microsoft YaHei"/>
              </a:defRPr>
            </a:pPr>
            <a:r>
              <a:t>97.3%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完全体达标率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72/74 验收项 verified</a:t>
            </a:r>
            <a:br/>
            <a:r>
              <a:t>核心 guard 64/64 全绿</a:t>
            </a:r>
            <a:br/>
            <a:r>
              <a:t>0 移动端黑屏 bug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463040"/>
            <a:ext cx="2697480" cy="256032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89719" y="16459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60"/>
              </a:spcAft>
              <a:defRPr sz="4200" b="1">
                <a:solidFill>
                  <a:srgbClr val="8B5CF6"/>
                </a:solidFill>
                <a:latin typeface="Microsoft YaHei"/>
              </a:defRPr>
            </a:pPr>
            <a:r>
              <a:t>3层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23317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全栈已搭建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19" y="2743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Flutter Mobile App</a:t>
            </a:r>
            <a:br/>
            <a:r>
              <a:t>Go Gateway 统一调度</a:t>
            </a:r>
            <a:br/>
            <a:r>
              <a:t>Python AI Engine + gRPC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📱 产品实机截图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754880"/>
            <a:ext cx="16459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80160" y="4846320"/>
            <a:ext cx="548640" cy="137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68680" y="4892040"/>
            <a:ext cx="1371600" cy="210312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任务卡界面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754880"/>
            <a:ext cx="16459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108960" y="4846320"/>
            <a:ext cx="548640" cy="137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697479" y="4892040"/>
            <a:ext cx="1371600" cy="210312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97479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知识星图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754880"/>
            <a:ext cx="164592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937760" y="4846320"/>
            <a:ext cx="548640" cy="1371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26280" y="4892040"/>
            <a:ext cx="1371600" cy="2103120"/>
          </a:xfrm>
          <a:prstGeom prst="round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26280" y="5943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40"/>
              </a:spcAft>
              <a:defRPr sz="800" b="0">
                <a:solidFill>
                  <a:srgbClr val="6B7280"/>
                </a:solidFill>
                <a:latin typeface="Microsoft YaHei"/>
              </a:defRPr>
            </a:pPr>
            <a:r>
              <a:t>对话决策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45720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▸ 后续可替换为真实产品截图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为什么我们能做成：团队与导师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这个项目需要的不只是编程能力，而是五层能力栈的同时具备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9 /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项目导师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4572000" cy="1463040"/>
          </a:xfrm>
          <a:prstGeom prst="roundRect">
            <a:avLst/>
          </a:prstGeom>
          <a:solidFill>
            <a:srgbClr val="DBE4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黄亚坤  副教授 · 博士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1E293B"/>
                </a:solidFill>
                <a:latin typeface="Microsoft YaHei"/>
              </a:defRPr>
            </a:pPr>
            <a:r>
              <a:t>北京邮电大学计算机学院（国家示范性软件学院）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06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30"/>
              </a:spcAft>
              <a:defRPr sz="1100" b="0">
                <a:solidFill>
                  <a:srgbClr val="6B7280"/>
                </a:solidFill>
                <a:latin typeface="Microsoft YaHei"/>
              </a:defRPr>
            </a:pPr>
            <a:r>
              <a:t>研究方案指导 · 技术路线把关</a:t>
            </a:r>
            <a:br/>
            <a:r>
              <a:t>实验设计 · 论文写作指导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371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团队能力栈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828800"/>
            <a:ext cx="1737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8076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💡 产品洞察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23317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为什么选 7 天考试救急</a:t>
            </a:r>
            <a:br/>
            <a:r>
              <a:t>作为北极星压力测试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828800"/>
            <a:ext cx="1737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100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🧠 AI 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3317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Aurora、策略闭环</a:t>
            </a:r>
            <a:br/>
            <a:r>
              <a:t>用户模型、因果控制链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1828800"/>
            <a:ext cx="1737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📱 全栈工程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3317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Flutter + Go Gateway</a:t>
            </a:r>
            <a:br/>
            <a:r>
              <a:t>+ Python AI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474720"/>
            <a:ext cx="1737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36118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🎓 教育场景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3977639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考试冲刺、学习科学</a:t>
            </a:r>
            <a:br/>
            <a:r>
              <a:t>可验证性把关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474720"/>
            <a:ext cx="173736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01000" y="3611879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60"/>
              </a:spcAft>
              <a:defRPr sz="1200" b="1">
                <a:solidFill>
                  <a:srgbClr val="0F172A"/>
                </a:solidFill>
                <a:latin typeface="Microsoft YaHei"/>
              </a:defRPr>
            </a:pPr>
            <a:r>
              <a:t>🛡️ 安全治理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01000" y="3977639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1E293B"/>
                </a:solidFill>
                <a:latin typeface="Microsoft YaHei"/>
              </a:defRPr>
            </a:pPr>
            <a:r>
              <a:t>53+ 治理规则</a:t>
            </a:r>
            <a:br/>
            <a:r>
              <a:t>全链路可追溯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团队成员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77639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邓博仁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343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2006 级 · 计算机科学与技术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563EB"/>
                </a:solidFill>
                <a:latin typeface="Microsoft YaHei"/>
              </a:defRPr>
            </a:pPr>
            <a:r>
              <a:t>产品愿景 / 系统架构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66160" y="3977639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张雨凝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49040" y="4343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2005 级 · 计算机科学与技术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563EB"/>
                </a:solidFill>
                <a:latin typeface="Microsoft YaHei"/>
              </a:defRPr>
            </a:pPr>
            <a:r>
              <a:t>AI 系统 / 后端工程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977639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王  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343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2006 级 · 电子信息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563EB"/>
                </a:solidFill>
                <a:latin typeface="Microsoft YaHei"/>
              </a:defRPr>
            </a:pPr>
            <a:r>
              <a:t>移动端 / 体验设计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235440" y="3977639"/>
            <a:ext cx="265176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18320" y="4069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50"/>
              </a:spcAft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王英树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43434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2006 级 · 计算机科学与技术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4617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2563EB"/>
                </a:solidFill>
                <a:latin typeface="Microsoft YaHei"/>
              </a:defRPr>
            </a:pPr>
            <a:r>
              <a:t>数据闭环 / 测试验证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5486400"/>
            <a:ext cx="110642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这个项目不是一个人靠 prompt 做出来的。它需要产品洞察、AI 系统设计、全栈工程、教育场景理解和安全治理五层能力的交叉。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60"/>
              </a:spcAft>
              <a:defRPr sz="3200" b="1">
                <a:solidFill>
                  <a:srgbClr val="0F172A"/>
                </a:solidFill>
                <a:latin typeface="Microsoft YaHei"/>
              </a:defRPr>
            </a:pPr>
            <a:r>
              <a:t>从校园考试救急，到 AI-native Goal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0">
                <a:solidFill>
                  <a:srgbClr val="6B7280"/>
                </a:solidFill>
                <a:latin typeface="Microsoft YaHei"/>
              </a:defRPr>
            </a:pPr>
            <a:r>
              <a:t>先在一个刚需场景做到极致，再系统性扩展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70"/>
              </a:spcAft>
              <a:defRPr sz="900" b="0">
                <a:solidFill>
                  <a:srgbClr val="6B7280"/>
                </a:solidFill>
                <a:latin typeface="Microsoft YaHei"/>
              </a:defRPr>
            </a:pPr>
            <a:r>
              <a:t>10 /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97480" cy="2011680"/>
          </a:xfrm>
          <a:prstGeom prst="roundRect">
            <a:avLst/>
          </a:prstGeom>
          <a:solidFill>
            <a:srgbClr val="DBE4F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2563EB"/>
                </a:solidFill>
                <a:latin typeface="Microsoft YaHei"/>
              </a:defRPr>
            </a:pPr>
            <a:r>
              <a:t>现在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北邮试点</a:t>
            </a:r>
            <a:br/>
            <a:r>
              <a:t>考试冲刺 PMF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697480" cy="201168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近期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659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更多学科 · 更多高校</a:t>
            </a:r>
            <a:br/>
            <a:r>
              <a:t>C端订阅 + 机构合作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71600"/>
            <a:ext cx="2697480" cy="201168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中期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659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项目交付 · 求职</a:t>
            </a:r>
            <a:br/>
            <a:r>
              <a:t>科研 · 跨目标迁移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201168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60"/>
              </a:spcAft>
              <a:defRPr sz="2200" b="0">
                <a:solidFill>
                  <a:srgbClr val="6B7280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71600"/>
            <a:ext cx="2697480" cy="2011680"/>
          </a:xfrm>
          <a:prstGeom prst="roundRect">
            <a:avLst/>
          </a:prstGeom>
          <a:solidFill>
            <a:srgbClr val="EDE9FE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150876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80"/>
              </a:spcAft>
              <a:defRPr sz="1600" b="1">
                <a:solidFill>
                  <a:srgbClr val="8B5CF6"/>
                </a:solidFill>
                <a:latin typeface="Microsoft YaHei"/>
              </a:defRPr>
            </a:pPr>
            <a:r>
              <a:t>长期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196596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60"/>
              </a:spcAft>
              <a:defRPr sz="1200" b="0">
                <a:solidFill>
                  <a:srgbClr val="1E293B"/>
                </a:solidFill>
                <a:latin typeface="Microsoft YaHei"/>
              </a:defRPr>
            </a:pPr>
            <a:r>
              <a:t>AI-native Goal OS</a:t>
            </a:r>
            <a:br/>
            <a:r>
              <a:t>任何目标都能推进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840480"/>
            <a:ext cx="11064240" cy="1371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2563EB"/>
                </a:solidFill>
                <a:latin typeface="Microsoft YaHei"/>
              </a:defRPr>
            </a:pPr>
            <a:r>
              <a:t>商业模式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434840"/>
            <a:ext cx="5029200" cy="1371600"/>
          </a:xfrm>
          <a:prstGeom prst="roundRect">
            <a:avLst/>
          </a:prstGeom>
          <a:solidFill>
            <a:srgbClr val="DBE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C 端订阅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个人用户付费会员</a:t>
            </a:r>
            <a:br/>
            <a:r>
              <a:t>增值功能（深度诊断、策略报告、跨目标迁移）</a:t>
            </a:r>
            <a:br/>
            <a:r>
              <a:t>考试是刚需 · 学生愿意为通过付费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4434840"/>
            <a:ext cx="5029200" cy="13716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0" y="4572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19"/>
              </a:spcAft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D 端合作（B2B）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8920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0">
                <a:solidFill>
                  <a:srgbClr val="1E293B"/>
                </a:solidFill>
                <a:latin typeface="Microsoft YaHei"/>
              </a:defRPr>
            </a:pPr>
            <a:r>
              <a:t>与教育机构、高校开展深度合作</a:t>
            </a:r>
            <a:br/>
            <a:r>
              <a:t>企业培训场景扩展</a:t>
            </a:r>
            <a:br/>
            <a:r>
              <a:t>盈利优先 · 健康增长 · 拒绝烧钱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90"/>
              </a:spcAft>
              <a:defRPr sz="1300" b="0">
                <a:solidFill>
                  <a:srgbClr val="6B7280"/>
                </a:solidFill>
                <a:latin typeface="Microsoft YaHei"/>
              </a:defRPr>
            </a:pPr>
            <a:r>
              <a:t>深度契合国家"人工智能+"行动与教育数字化战略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7 天前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那个面对计网考试、基本没学的学生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7 天后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80"/>
              </a:spcAft>
              <a:defRPr sz="3600" b="1">
                <a:solidFill>
                  <a:srgbClr val="F59E0B"/>
                </a:solidFill>
                <a:latin typeface="Microsoft YaHei"/>
              </a:defRPr>
            </a:pPr>
            <a:r>
              <a:t>他通过了。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40"/>
              </a:spcAft>
              <a:defRPr sz="1800" b="0">
                <a:solidFill>
                  <a:srgbClr val="6B7280"/>
                </a:solidFill>
                <a:latin typeface="Microsoft YaHei"/>
              </a:defRPr>
            </a:pPr>
            <a:r>
              <a:t>不是因为 Sparkle 比他聪明。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4903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60"/>
              </a:spcAft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而是因为 Sparkle 帮他做了那些他不知道该怎么做的决策。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1.  Sparkle 不只是答题，而是帮学生把目标做成。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2.  7 天考试救急，是我们证明价值的第一战场。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80"/>
              </a:spcAft>
              <a:defRPr sz="1600" b="0">
                <a:solidFill>
                  <a:srgbClr val="FFFFFF"/>
                </a:solidFill>
                <a:latin typeface="Microsoft YaHei"/>
              </a:defRPr>
            </a:pPr>
            <a:r>
              <a:t>3.  长期来看，它会沉淀每个人自己的成长方法。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035040"/>
            <a:ext cx="1828800" cy="182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Sparkle  ·  让 AI 不只会讲题，而是真的陪你把目标走完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A. 社群责任伙伴机制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责任伙伴闭环：承诺 → 伙伴提醒 → 见证 → 外部观察候选 → 用户确认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群聊与火堆（社群空间）：基于共同目标的临时社群，非社交网络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社群共性错因：群体级别的错因聚类 → 推荐群体级策略调整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伙伴信号写入 ActionableStatePacket（需用户确认，遵守隐私铁律）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社群资源质量评分：下载量不是标准，outcome + 负反馈 + 适用范围才是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铁律约束：伙伴观察仅作 external_observation_candidate + needs_user_confirmation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B. 安全、隐私、可追溯体系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身份与访问控制：JWT + WebSocket 票据 + 白名单 + RBAC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全链路 Request ID 追踪：每一步决策可追溯到输入和规则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用户纠正直达底层：用户矫正绕过 Aurora，写入 L0 raw evidence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反证降权（Counter-Evidence）：3 次反证后 belief 自动失效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Aurora 白名单纪律：调旋钮不改电路（数据源、算法、证据链不可被 Aurora 修改）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53+ 治理规则 CI 强制：每次 PR 合并前自动运行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Kill Switch 协议：所有 Aurora 特性 tri-state（off → shadow → live），异常自动降级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数据最小化 fail-closed：15 个 scope，GOV-DATA-MIN guard 强制执行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C. Aurora 分层与交互式建模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Aurora 技术本质：Adaptive Context Engineering — 每次交互动态组装真正匹配当下的 context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三时层模型（inline / nearline / long-horizon）：同一引擎在三种预算约束下的行为谱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  - inline: P95 &lt; 100ms，同步路径，BackboneRoutingDecision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  - nearline: P95 ≤ 30s，会话结束/idle/提交，TDR/InsightClaim/ProbeOutcome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  - long-horizon: 小时~天级，批处理，FocusContract 演进/IdentityEvidence 聚合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交互式校准：用户通过对话让系统理解自己，系统保持独立判断，不完全听信用户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双交互模式：普通对话（低 Aurora 介入） vs 深度模式（高 Aurora 介入，走进内心世界）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五层用户模型（L0-L3 + 用户纠偏）：层层写入隔离，用户纠偏直达 raw/calibration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Aurora 影子模型：轻量状态摘要，漂移检测——Aurora 说的和画像系统说的不一致 = 需要问用户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D. 知识星图与个人知识库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知识星图不是展示图，而是目标世界模型：资料、考点、错因、任务、考试权重都挂在上面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资料不是附件，而是世界模型的一部分：上传后挂到星图节点、任务卡、错因和计划里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6+1 知识星图体系：课程知识 / 考试考点 / 错因模式 / 学习策略 / 资料有效性 / 个人方法 + 社群知识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星图溯源：每次决策可追溯到用了哪些资料节点、为什么选这些、效果如何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Source Tray + Context Receipt：资料使用有 trace——用了什么、没用什么、为什么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长期资产：星图随使用持续生长，跨目标可查询、可复用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技术栈：PostgreSQL + pgvector + Apache AGE（图数据库）+ Redis 缓存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E. Skill Extraction / Learning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Skill 三级体系：personal（个人有效策略）→ cohort（群体验证）→ system（平台级资产）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自动提取触发：不只 outcome_positive，多条件触发（采纳→完成→反馈正→复用→再正）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Learning Base：贝叶斯信念更新 + 冷启动先验 + 后验更新 + 长期信念保留（跨 sprint）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Skill 生命周期：inject → extract → recommend → verify → promote/deprecate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晋升门槛：personal→cohort 需 5 次有效验证；cohort→system 需 10 次多用户验证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反证降权：counter_evidence 累积 3 次 → belief 失效 → skill 降级/下架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Marketplace 上线：Skill 可预览、采纳、追踪效果、负反馈自动下架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长期价值：Sparkle 越用越懂你，不是比喻——是可验证的策略积累和自动推荐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F. MirrorFish / 多 Agent 推演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MirrorFish 推演系统：角色扮演 + 多 Agent 活动，模拟真实目标推进场景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多 Agent 场景：学生 Agent + 导师 Agent + 伙伴 Agent + 压力 Agent（模拟考试焦虑）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策略预验证：新策略先在 MirrorFish 推演，通过后再进入 shadow → canary → safe_live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Simulated Gray Window (SGW)：预发布前 12h + 200 sessions 模拟验证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24 场景基准测试（SparkleGoalBench）：ExamSprint 12 + ProjectDelivery 4 + JobSearch 4 + MultiGoalLife 4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SyntheticPersona 模拟 + TraceReplay 回放：混合策略，不作为唯一评估依据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极端场景必过：D0 危机 / 零基础 / 多目标冲突 / 疲劳模式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与 Causal Spine 配合：推演结果写入 outcome → 反事实评估 → 策略更新建议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G. 技术架构全图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Flutter (Presentation) → Go Gateway (Coordination) → Python AI Engine (Intelligence)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Go Gateway：Auth（JWT + WebSocket）、路由、缓存（Redis）、流式推送、限流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Python AI Engine：LangGraph FSM（Orchestrator）、Dual-Core Router、Aurora Adaptive Kernel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数据层：PostgreSQL 16 + pgvector（向量相似）+ Apache AGE（图查询）+ Redis Stack（缓存/事件总线）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gRPC 内部通信：Go ↔ Python，protobuf 定义接口（6 个 proto 文件）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WebSocket 实时通道：Flutter ↔ Go ↔ Python，server-streaming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Celery 异步任务：定时 beat schedule（策略学习、技能提取、反事实评估、guardrail 检查）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外部集成：OpenClaw 执行闭环 + 多模型路由（DeepSeek V4 主力 + 10+ 模型自适应调度）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代码规模：86 万+行业务代码，13 万+行测试，7342 个测试用例收集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000" b="1">
                <a:solidFill>
                  <a:srgbClr val="F59E0B"/>
                </a:solidFill>
                <a:latin typeface="Microsoft YaHei"/>
              </a:defRPr>
            </a:pPr>
            <a:r>
              <a:t>附 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39"/>
              </a:spcAft>
              <a:defRPr sz="2800" b="1">
                <a:solidFill>
                  <a:srgbClr val="0F172A"/>
                </a:solidFill>
                <a:latin typeface="Microsoft YaHei"/>
              </a:defRPr>
            </a:pPr>
            <a:r>
              <a:t>H. 工程验证与测试指标详情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SparkleGoalBench：24/24 场景全部通过（ExamSprint 12 + ProjectDelivery 4 + JobSearch 4 + MultiGoalLife 4）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ExamSprintBench：12/12 专项通过（7 天全链路 + 退化模式 + 社群 + 疲劳 + 危机模式）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完全体达标率：72/74 checkpoint verified = 97.3%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Rule Guards：64/64 核心规则全部通过（含 K/Y/Z/AB/AF/AM-AN-AO-AP-AQ/AS-AT-AU-AV/AW-AX-AY-AZ/BB/BC）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后端单测：153 个 FV 目标测试通过，0 失败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Go Gateway：5 个包全部通过（cqrs / db / handler / middleware / service）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Alembic 迁移：单一 head (c24_20260502)，无多头分叉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总测试收集：7342 tests collected，零 collection error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一票否决项：0 / 10 触发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本地真机联调：90% 关键路径已跑通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北极星指标在线：7 天目标完成率 / 考试通过概率 / 实际考试结果追踪</a:t>
            </a:r>
          </a:p>
          <a:p>
            <a:pPr algn="l">
              <a:spcAft>
                <a:spcPts val="1000"/>
              </a:spcAft>
              <a:defRPr sz="1400" b="0">
                <a:solidFill>
                  <a:srgbClr val="1E293B"/>
                </a:solidFill>
                <a:latin typeface="Microsoft YaHei"/>
              </a:defRPr>
            </a:pPr>
            <a:r>
              <a:t>• 移动端：0 黑屏 bug，Flutter 698 pass / 3 pre-existing fails (IsarCore)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