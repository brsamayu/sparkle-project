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25s。开场不要解释产品全貌，直接把评委拉进场景：一个学生 7 天后考计算机网络，基本没学。普通 AI 能答题，但这类场景真正难的是目标决策。过渡：为什么 AI 越来越强，学生离目标却没有更近？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40s。先承认 AI 很强，避免陷入和大模型比参数。然后说普通用户缺的不是答案，而是四个断裂。结尾用战略选择拔高：我们不是因为 AI 火了才做 AI，而是看到普通人离目标没有更近。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40s。关键是避免讲成“更会聊天”。用决策对比：普通 AI 给完整计划，Sparkle 先诊断、取舍、定最小通过路径。过渡：下面把这个决策入口放进 7 天计网抢救的完整旅程。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50s。讲两个关键时刻：诊断不是问卷，是按考试权重和当前基础选择测什么；主动放弃不是偷懒，是最小通过路径。这里要让评委感到 Sparkle 在做取舍。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50s。左边讲任务卡必须有为什么、材料、步骤、卡住怎么办、完成标准。右边讲失败闭环：用户纠正一次“我不是没时间，是不会做”，系统后续计划全改。过渡：7 天结束后，这些东西不会消失。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45s。长期价值不要说自我实现，太虚。说可迁移资产：它知道你什么薄弱、什么资料有效、任务多长会拖延、什么策略能迁移到下一门课。社群只作为资产维度出现，不抢主线。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50s。姿态要稳：不要贬低 ChatGPT、Claude、DeepSeek、豆包或校内平台。它们强在单点能力或入口，但 Sparkle 补的是目标闭环。可信维度要说一句：关键决策可追溯、可纠正、可回滚，这是 AI 教育产品的信任基础。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40s。先让评委看到产品形态，再给工程证据。数字要翻译成人话：24 种极端场景不是 benchmark 名词，是零基础、7 天 deadline、多目标冲突这些难场景。这里可替换真实截图，正式比赛前最好换。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40s。团队页不要念出生年份。讲导师保证研究方案和实验设计，团队覆盖产品、AI、后端、移动端、验证安全。邓博仁作为汇报人与核心负责人，可以在口播里自然点出。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35s。商业模式不要空喊市场规模。说清楚为什么从校园开始：高频、刚需、可验证、传播快。C 端订阅先跑 PMF，D 端和课程/机构合作扩大。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30s。收束回到第一页。不要再开新概念，用完整故事闭环。最后一句落到信念：能不能做成事，不应该取决于用户会不会 prompt、会不会做计划、有没有钱请私教。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附录。若评委问“是不是只有 AI 对话”，用这一页说明社群是目标执行系统的一部分，不是泛社交。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附录。回答 AI 教育产品的信任问题：决策依据可见，用户纠正会进入系统，权限与审计保证边界。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附录。用技术但不堆名词：Aurora 的价值是让每次模型调用前先组装上下文和决策目标。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附录。知识星图不要讲成漂亮图，而是讲成用户长期资产的数据结构。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附录。回答系统如何越用越好：不是简单记忆聊天，而是从 episode 中抽取策略。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附录。回答策略怎么验证有效：通过多 agent 推演发现失败路径，再回写策略。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附录。技术答辩页，避免主讲时陷入架构细节。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附录。答辩时可用于解释具体工程进展。注意这些指标应与最新测试结果保持同步。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3" Type="http://schemas.openxmlformats.org/officeDocument/2006/relationships/image" Target="../media/image5.svg"/><Relationship Id="rId2" Type="http://schemas.openxmlformats.org/officeDocument/2006/relationships/image" Target="../media/image13.sv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400050" y="342900"/>
            <a:ext cx="11391900" cy="6172200"/>
          </a:xfrm>
          <a:prstGeom prst="roundRect">
            <a:avLst>
              <a:gd name="adj" fmla="val 1235"/>
            </a:avLst>
          </a:prstGeom>
          <a:solidFill>
            <a:srgbClr val="FFFFFF">
              <a:alpha val="53333"/>
            </a:srgbClr>
          </a:solidFill>
          <a:ln w="9525">
            <a:solidFill>
              <a:srgbClr val="E2DAC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64770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</a:t>
            </a:r>
            <a:endParaRPr sz="1875" b="1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0287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鸿雁杯校内选拔 · 8 分钟路演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619250"/>
            <a:ext cx="1809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115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724150" y="1714500"/>
            <a:ext cx="4953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天后考试，基本没学。</a:t>
            </a:r>
            <a:endParaRPr sz="34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34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能救吗？</a:t>
            </a:r>
            <a:endParaRPr sz="34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62250" y="3181350"/>
            <a:ext cx="5334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我们不把 Sparkle 讲成“又一个会答题的 AI”。</a:t>
            </a:r>
            <a:endParaRPr sz="15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5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今天只讲一件事：它怎样把一个普通学生从慌乱带到可执行、可反馈、可通过。</a:t>
            </a:r>
            <a:endParaRPr sz="15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10719" r="10719"/>
          <a:stretch>
            <a:fillRect/>
          </a:stretch>
        </p:blipFill>
        <p:spPr>
          <a:xfrm>
            <a:off x="8505190" y="990600"/>
            <a:ext cx="2038350" cy="461010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2781300" y="4362450"/>
            <a:ext cx="1657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E3DED3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5600" y="4438650"/>
            <a:ext cx="171450" cy="17145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3143250" y="4438650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720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北极星压力测试</a:t>
            </a:r>
            <a:endParaRPr sz="975" b="1">
              <a:solidFill>
                <a:srgbClr val="1720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591050" y="4362450"/>
            <a:ext cx="15240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E3DED3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5350" y="4438650"/>
            <a:ext cx="171450" cy="1714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4953000" y="44386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720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计网 7 天抢救</a:t>
            </a:r>
            <a:endParaRPr sz="975" b="1">
              <a:solidFill>
                <a:srgbClr val="1720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Problem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很强，但普通人离目标没有更近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问题不是模型不会答，而是用户不知道如何把目标变成路径，并一路做完。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2647950"/>
            <a:ext cx="23622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D4C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8575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19087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需求断裂</a:t>
            </a:r>
            <a:endParaRPr sz="18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60045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我想通过考试，但说不清差距在哪里。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29000" y="2647950"/>
            <a:ext cx="2362200" cy="1619250"/>
          </a:xfrm>
          <a:prstGeom prst="roundRect">
            <a:avLst>
              <a:gd name="adj" fmla="val 4706"/>
            </a:avLst>
          </a:prstGeom>
          <a:solidFill>
            <a:srgbClr val="E7EBDD"/>
          </a:solidFill>
          <a:ln w="9525">
            <a:solidFill>
              <a:srgbClr val="DDD4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28575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1">
              <a:solidFill>
                <a:srgbClr val="7D8B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319087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路径断裂</a:t>
            </a:r>
            <a:endParaRPr sz="18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360045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资料很多、时间很短，不知道先救哪一块。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53150" y="2647950"/>
            <a:ext cx="23622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D4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62700" y="28575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319087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执行断裂</a:t>
            </a:r>
            <a:endParaRPr sz="18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360045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计划看起来完整，落到今天只剩下焦虑。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877300" y="2647950"/>
            <a:ext cx="23622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D4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086850" y="28575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9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B89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1">
              <a:solidFill>
                <a:srgbClr val="B89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086850" y="319087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反馈断裂</a:t>
            </a:r>
            <a:endParaRPr sz="18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86850" y="360045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失败后没人判断原因，下一步仍然靠猜。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838700"/>
            <a:ext cx="10363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57300" y="52006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720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720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所有人都在卷模型能力。我们选择卷另一件事：让普通人真的把目标做成。</a:t>
            </a:r>
            <a:endParaRPr sz="2025" b="1">
              <a:solidFill>
                <a:srgbClr val="1720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76450" y="5619750"/>
            <a:ext cx="8039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这也是 Sparkle 的战略选择：系统承担 prompt、拆解、取舍、追踪和纠偏的认知负担。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E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第一次对话就不一样：不是先答，是先决策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 不是让 AI 更会聊天，而是每次回答前先做上下文与目标决策。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38200" y="2419350"/>
            <a:ext cx="47625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ED7CA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362700" y="2419350"/>
            <a:ext cx="4762500" cy="2362200"/>
          </a:xfrm>
          <a:prstGeom prst="roundRect">
            <a:avLst>
              <a:gd name="adj" fmla="val 3226"/>
            </a:avLst>
          </a:prstGeom>
          <a:solidFill>
            <a:srgbClr val="F7FBF2"/>
          </a:solidFill>
          <a:ln w="9525">
            <a:solidFill>
              <a:srgbClr val="7D8B6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6670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裸用通用 AI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1432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“7 天后考计网，基本没学。”</a:t>
            </a:r>
            <a:endParaRPr sz="14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3562350"/>
            <a:ext cx="3810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常见结果：给一份完整复习计划</a:t>
            </a:r>
            <a:endParaRPr sz="165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包含所有章节、资料和解释</a:t>
            </a:r>
            <a:endParaRPr sz="165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看似全面，但没有取舍</a:t>
            </a:r>
            <a:endParaRPr sz="165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44386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94D3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A94D3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问题：把判断留给用户</a:t>
            </a:r>
            <a:endParaRPr sz="1125" b="1">
              <a:solidFill>
                <a:srgbClr val="A94D3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29400" y="26670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+ Aurora</a:t>
            </a:r>
            <a:endParaRPr sz="17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29400" y="314325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同一句输入，先进入抢救模式</a:t>
            </a:r>
            <a:endParaRPr sz="14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29400" y="3562350"/>
            <a:ext cx="3810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先做 12 分钟诊断</a:t>
            </a:r>
            <a:endParaRPr sz="165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根据考试权重和当前基础取舍</a:t>
            </a:r>
            <a:endParaRPr sz="165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主动放弃低收益章节</a:t>
            </a:r>
            <a:endParaRPr sz="165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29400" y="44386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差异：系统先做目标决策</a:t>
            </a:r>
            <a:endParaRPr sz="11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53100" y="3486150"/>
            <a:ext cx="400050" cy="400050"/>
          </a:xfrm>
          <a:prstGeom prst="rect">
            <a:avLst/>
          </a:prstGeom>
        </p:spPr>
      </p:pic>
      <p:sp>
        <p:nvSpPr>
          <p:cNvPr id="17" name="圆角矩形 16"/>
          <p:cNvSpPr>
            <a:spLocks noGrp="1"/>
          </p:cNvSpPr>
          <p:nvPr/>
        </p:nvSpPr>
        <p:spPr>
          <a:xfrm>
            <a:off x="2038350" y="5219700"/>
            <a:ext cx="8115300" cy="514350"/>
          </a:xfrm>
          <a:prstGeom prst="roundRect">
            <a:avLst>
              <a:gd name="adj" fmla="val 14815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305050" y="5372100"/>
            <a:ext cx="7581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这不是“先问几个问题”的聊天技巧，而是把模型能力装进目标状态、用户画像和反馈闭环里。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North Star / 1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天救急·上：诊断 + 主动放弃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最难的不是把知识讲全，而是在时间不足时判断什么该做、什么不该做。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2381250"/>
            <a:ext cx="47625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ED6C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6860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分钟诊断</a:t>
            </a:r>
            <a:endParaRPr sz="21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31432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不让学生先“开始复习”，而是先测三类高收益能力：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66800" y="3733800"/>
            <a:ext cx="3810000" cy="342900"/>
          </a:xfrm>
          <a:prstGeom prst="roundRect">
            <a:avLst>
              <a:gd name="adj" fmla="val 22222"/>
            </a:avLst>
          </a:prstGeom>
          <a:solidFill>
            <a:srgbClr val="E7EBDD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38100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TCP 可靠传输</a:t>
            </a:r>
            <a:endParaRPr sz="11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0" y="38100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高频考点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66800" y="4210050"/>
            <a:ext cx="3810000" cy="342900"/>
          </a:xfrm>
          <a:prstGeom prst="roundRect">
            <a:avLst>
              <a:gd name="adj" fmla="val 22222"/>
            </a:avLst>
          </a:prstGeom>
          <a:solidFill>
            <a:srgbClr val="F2D8C9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42862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子网划分</a:t>
            </a:r>
            <a:endParaRPr sz="11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38500" y="42862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短板暴露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66800" y="4686300"/>
            <a:ext cx="3810000" cy="342900"/>
          </a:xfrm>
          <a:prstGeom prst="roundRect">
            <a:avLst>
              <a:gd name="adj" fmla="val 22222"/>
            </a:avLst>
          </a:prstGeom>
          <a:solidFill>
            <a:srgbClr val="E7EBDD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4762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差错检测</a:t>
            </a:r>
            <a:endParaRPr sz="11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38500" y="47625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可快速补齐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91250" y="2381250"/>
            <a:ext cx="4762500" cy="2952750"/>
          </a:xfrm>
          <a:prstGeom prst="roundRect">
            <a:avLst>
              <a:gd name="adj" fmla="val 2581"/>
            </a:avLst>
          </a:prstGeom>
          <a:solidFill>
            <a:srgbClr val="F9FAF4"/>
          </a:solidFill>
          <a:ln w="9525">
            <a:solidFill>
              <a:srgbClr val="7D8B6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15100" y="26860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主动放弃第 8 章</a:t>
            </a:r>
            <a:endParaRPr sz="210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34150" y="314325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不是因为它不重要，而是因为在 7 天约束下投入产出比最低。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53200" y="38100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Day 1-2</a:t>
            </a:r>
            <a:endParaRPr sz="10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38100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救 TCP / 子网 / 差错检测</a:t>
            </a:r>
            <a:endParaRPr sz="12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53200" y="42100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Day 3-5</a:t>
            </a:r>
            <a:endParaRPr sz="10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42100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真题驱动补理论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53200" y="46101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Day 6</a:t>
            </a:r>
            <a:endParaRPr sz="10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48550" y="46101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错因回收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53200" y="50101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Day 7</a:t>
            </a:r>
            <a:endParaRPr sz="10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5010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保底题型演练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667000" y="5734050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一句话：救急不是完整学习，是最小通过路径。</a:t>
            </a:r>
            <a:endParaRPr sz="18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North Star / 2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天救急·下：任务卡 + 失败重规划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失败不是计划结束，而是系统更新对用户的判断。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2266950"/>
            <a:ext cx="386715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571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今日任务卡</a:t>
            </a:r>
            <a:endParaRPr sz="19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371850" y="2571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C46F4D">
              <a:alpha val="13333"/>
            </a:srgbClr>
          </a:solidFill>
          <a:ln w="9525">
            <a:solidFill>
              <a:srgbClr val="C46F4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67100" y="2638425"/>
            <a:ext cx="685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高价值</a:t>
            </a:r>
            <a:endParaRPr sz="8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30289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 TCP 可靠传输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33909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预计 45 分钟 · 真题驱动 · 2 道验证题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733800"/>
            <a:ext cx="30289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9052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为什么做</a:t>
            </a:r>
            <a:endParaRPr sz="120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1719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高频题型，能快速提升原理题与应用题准确率。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7053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卡住怎么办</a:t>
            </a:r>
            <a:endParaRPr sz="120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49720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分钟无进展：看示例题 → 10 分钟讲解 → 向 Sparkle 求助。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238750" y="2819400"/>
            <a:ext cx="1181100" cy="14287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410200" y="3009900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A94D3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94D3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350" b="1">
              <a:solidFill>
                <a:srgbClr val="A94D3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10200" y="3333750"/>
            <a:ext cx="838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失败</a:t>
            </a:r>
            <a:endParaRPr sz="15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10200" y="3676650"/>
            <a:ext cx="83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任务超时，题没做出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6050" y="3429000"/>
            <a:ext cx="190500" cy="190500"/>
          </a:xfrm>
          <a:prstGeom prst="rect">
            <a:avLst/>
          </a:prstGeom>
        </p:spPr>
      </p:pic>
      <p:sp>
        <p:nvSpPr>
          <p:cNvPr id="22" name="圆角矩形 21"/>
          <p:cNvSpPr>
            <a:spLocks noGrp="1"/>
          </p:cNvSpPr>
          <p:nvPr/>
        </p:nvSpPr>
        <p:spPr>
          <a:xfrm>
            <a:off x="6724650" y="2819400"/>
            <a:ext cx="1181100" cy="1428750"/>
          </a:xfrm>
          <a:prstGeom prst="roundRect">
            <a:avLst>
              <a:gd name="adj" fmla="val 6452"/>
            </a:avLst>
          </a:prstGeom>
          <a:solidFill>
            <a:srgbClr val="F2D8C9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96100" y="3009900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3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96100" y="3333750"/>
            <a:ext cx="838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归因</a:t>
            </a:r>
            <a:endParaRPr sz="15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96100" y="3676650"/>
            <a:ext cx="83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不是没时间，是不会做报文段推理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1950" y="3429000"/>
            <a:ext cx="190500" cy="190500"/>
          </a:xfrm>
          <a:prstGeom prst="rect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8210550" y="2819400"/>
            <a:ext cx="1181100" cy="14287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382000" y="3009900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350" b="1">
              <a:solidFill>
                <a:srgbClr val="7D8B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82000" y="3333750"/>
            <a:ext cx="838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改判</a:t>
            </a:r>
            <a:endParaRPr sz="15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3676650"/>
            <a:ext cx="83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降低阅读量，增加例题拆解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7850" y="3429000"/>
            <a:ext cx="190500" cy="190500"/>
          </a:xfrm>
          <a:prstGeom prst="rect">
            <a:avLst/>
          </a:prstGeom>
        </p:spPr>
      </p:pic>
      <p:sp>
        <p:nvSpPr>
          <p:cNvPr id="32" name="圆角矩形 31"/>
          <p:cNvSpPr>
            <a:spLocks noGrp="1"/>
          </p:cNvSpPr>
          <p:nvPr/>
        </p:nvSpPr>
        <p:spPr>
          <a:xfrm>
            <a:off x="9696450" y="2819400"/>
            <a:ext cx="1181100" cy="14287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867900" y="3009900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350" b="1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867900" y="3333750"/>
            <a:ext cx="838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重规划</a:t>
            </a:r>
            <a:endParaRPr sz="15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867900" y="3676650"/>
            <a:ext cx="83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下一张任务卡自动变短、先练题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257800" y="4781550"/>
            <a:ext cx="5638800" cy="552450"/>
          </a:xfrm>
          <a:prstGeom prst="roundRect">
            <a:avLst>
              <a:gd name="adj" fmla="val 13793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524500" y="4953000"/>
            <a:ext cx="510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 不是只改这一张任务卡，而是更新后续所有相关决策参数。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Long Run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用一年后，留下的不是聊天记录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留下的是一套关于“这个人怎么更容易做成事”的可迁移方法资产。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5295900" y="2962275"/>
            <a:ext cx="1600200" cy="1600200"/>
          </a:xfrm>
          <a:prstGeom prst="ellipse">
            <a:avLst/>
          </a:prstGeom>
          <a:solidFill>
            <a:srgbClr val="1720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43550" y="3400425"/>
            <a:ext cx="1104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个人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方法资产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00375" y="2876550"/>
            <a:ext cx="3095625" cy="9525"/>
          </a:xfrm>
          <a:prstGeom prst="rect">
            <a:avLst/>
          </a:prstGeom>
          <a:solidFill>
            <a:srgbClr val="C46F4D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333625" y="247650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505075" y="26289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薄弱点</a:t>
            </a:r>
            <a:endParaRPr sz="14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05075" y="291465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子网划分反复失分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62575" y="2476500"/>
            <a:ext cx="733425" cy="9525"/>
          </a:xfrm>
          <a:prstGeom prst="rect">
            <a:avLst/>
          </a:prstGeom>
          <a:solidFill>
            <a:srgbClr val="7D8B6F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695825" y="207645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67275" y="2228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有效资料</a:t>
            </a:r>
            <a:endParaRPr sz="1425" b="1">
              <a:solidFill>
                <a:srgbClr val="7D8B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67275" y="251460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真题优先于长视频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0" y="2476500"/>
            <a:ext cx="1619250" cy="9525"/>
          </a:xfrm>
          <a:prstGeom prst="rect">
            <a:avLst/>
          </a:prstGeom>
          <a:solidFill>
            <a:srgbClr val="6E8498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048500" y="207645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19950" y="2228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任务粒度</a:t>
            </a:r>
            <a:endParaRPr sz="1425" b="1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19950" y="251460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45 分钟以上容易拖延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4495800"/>
            <a:ext cx="2667000" cy="9525"/>
          </a:xfrm>
          <a:prstGeom prst="rect">
            <a:avLst/>
          </a:prstGeom>
          <a:solidFill>
            <a:srgbClr val="B8955E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8096250" y="409575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267700" y="42481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9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B89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策略迁移</a:t>
            </a:r>
            <a:endParaRPr sz="1425" b="1">
              <a:solidFill>
                <a:srgbClr val="B89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67700" y="453390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先练题再补理论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53050" y="5448300"/>
            <a:ext cx="742950" cy="9525"/>
          </a:xfrm>
          <a:prstGeom prst="rect">
            <a:avLst/>
          </a:prstGeom>
          <a:solidFill>
            <a:srgbClr val="C46F4D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4686300" y="504825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57750" y="5200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情绪触发</a:t>
            </a:r>
            <a:endParaRPr sz="14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57750" y="548640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高压下需要低成本第一步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724150" y="4495800"/>
            <a:ext cx="3371850" cy="9525"/>
          </a:xfrm>
          <a:prstGeom prst="rect">
            <a:avLst/>
          </a:prstGeom>
          <a:solidFill>
            <a:srgbClr val="7D8B6F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2057400" y="409575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228850" y="42481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社群见证</a:t>
            </a:r>
            <a:endParaRPr sz="1425" b="1">
              <a:solidFill>
                <a:srgbClr val="7D8B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228850" y="453390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责任伙伴记录关键突破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381250" y="5962650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这不是用户自己总结的，是 Aurora 在每一次决策、反馈和纠正中自动积累的。</a:t>
            </a:r>
            <a:endParaRPr sz="15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E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Differentiation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为什么竞品难做到：不是单点弱，是缺闭环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的差异不在“回答更聪明”，而在目标决策、执行反馈、长期资产和可信校正同时存在。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23241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CD4C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2457450"/>
            <a:ext cx="2076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比较维度</a:t>
            </a:r>
            <a:endParaRPr sz="10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162300" y="2324100"/>
            <a:ext cx="2743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CD4C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457450"/>
            <a:ext cx="2438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通用大模型</a:t>
            </a:r>
            <a:endParaRPr sz="10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905500" y="2324100"/>
            <a:ext cx="2743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CD4C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57900" y="2457450"/>
            <a:ext cx="2438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学习工具 / 校内平台</a:t>
            </a:r>
            <a:endParaRPr sz="10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648700" y="2324100"/>
            <a:ext cx="2762250" cy="438150"/>
          </a:xfrm>
          <a:prstGeom prst="roundRect">
            <a:avLst>
              <a:gd name="adj" fmla="val 17391"/>
            </a:avLst>
          </a:prstGeom>
          <a:solidFill>
            <a:srgbClr val="172027"/>
          </a:solidFill>
          <a:ln w="9525">
            <a:solidFill>
              <a:srgbClr val="DCD4C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801100" y="2457450"/>
            <a:ext cx="2457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" y="2762250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" y="3000375"/>
            <a:ext cx="2076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目标决策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162300" y="276225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294322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能回答，但常给完整计划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905500" y="276225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57900" y="294322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有计划表，少动态取舍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8700" y="2762250"/>
            <a:ext cx="2762250" cy="742950"/>
          </a:xfrm>
          <a:prstGeom prst="roundRect">
            <a:avLst>
              <a:gd name="adj" fmla="val 10256"/>
            </a:avLst>
          </a:prstGeom>
          <a:solidFill>
            <a:srgbClr val="F7FBF2"/>
          </a:solidFill>
          <a:ln w="9525">
            <a:solidFill>
              <a:srgbClr val="7D8B6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01100" y="2943225"/>
            <a:ext cx="2457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先诊断，再算最小通过路径</a:t>
            </a:r>
            <a:endParaRPr sz="11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81050" y="3505200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3450" y="3743325"/>
            <a:ext cx="2076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执行反馈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162300" y="350520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314700" y="368617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对话结束即断开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905500" y="350520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057900" y="368617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打卡为主，少错因归因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648700" y="3505200"/>
            <a:ext cx="2762250" cy="742950"/>
          </a:xfrm>
          <a:prstGeom prst="roundRect">
            <a:avLst>
              <a:gd name="adj" fmla="val 10256"/>
            </a:avLst>
          </a:prstGeom>
          <a:solidFill>
            <a:srgbClr val="F7FBF2"/>
          </a:solidFill>
          <a:ln w="9525">
            <a:solidFill>
              <a:srgbClr val="7D8B6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01100" y="3686175"/>
            <a:ext cx="2457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任务结果反向更新计划</a:t>
            </a:r>
            <a:endParaRPr sz="11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1050" y="4248150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33450" y="4486275"/>
            <a:ext cx="2076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长期资产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162300" y="424815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314700" y="442912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聊天记录难迁移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905500" y="424815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057900" y="442912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知识点沉淀，少方法沉淀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648700" y="4248150"/>
            <a:ext cx="2762250" cy="742950"/>
          </a:xfrm>
          <a:prstGeom prst="roundRect">
            <a:avLst>
              <a:gd name="adj" fmla="val 10256"/>
            </a:avLst>
          </a:prstGeom>
          <a:solidFill>
            <a:srgbClr val="F7FBF2"/>
          </a:solidFill>
          <a:ln w="9525">
            <a:solidFill>
              <a:srgbClr val="7D8B6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801100" y="4429125"/>
            <a:ext cx="2457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沉淀个人方法资产</a:t>
            </a:r>
            <a:endParaRPr sz="11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81050" y="4991100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5229225"/>
            <a:ext cx="2076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可信校正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3162300" y="499110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3314700" y="517207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建议黑盒，难追踪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905500" y="4991100"/>
            <a:ext cx="2743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057900" y="5172075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流程可见但 AI 决策弱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648700" y="4991100"/>
            <a:ext cx="2762250" cy="742950"/>
          </a:xfrm>
          <a:prstGeom prst="roundRect">
            <a:avLst>
              <a:gd name="adj" fmla="val 10256"/>
            </a:avLst>
          </a:prstGeom>
          <a:solidFill>
            <a:srgbClr val="F7FBF2"/>
          </a:solidFill>
          <a:ln w="9525">
            <a:solidFill>
              <a:srgbClr val="7D8B6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01100" y="5172075"/>
            <a:ext cx="2457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关键决策可追溯、可纠正、可回滚</a:t>
            </a:r>
            <a:endParaRPr sz="11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390650" y="5981700"/>
            <a:ext cx="94107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我们不否认通用模型很强；Sparkle 做的是把强模型变成普通用户可稳定获得结果的系统。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Proof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不是概念：已有可运行系统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产品体验有清晰形态，底层工程也已经通过多轮本地验证。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60769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8C857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C857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界面示意，可替换为真实截图</a:t>
            </a:r>
            <a:endParaRPr sz="825" b="0">
              <a:solidFill>
                <a:srgbClr val="8C857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95750" y="21526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0D8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267200" y="23241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7D8B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 种</a:t>
            </a:r>
            <a:endParaRPr sz="2250" b="1">
              <a:solidFill>
                <a:srgbClr val="7D8B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67200" y="267652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极端目标场景全通过：含零基础、7 天 deadline、多目标冲突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296150" y="21526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0D8C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67600" y="23241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12/12</a:t>
            </a:r>
            <a:endParaRPr sz="22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67600" y="267652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ExamSprintBench 本地冲刺场景通过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095750" y="33718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0D8C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267200" y="35433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97.3%</a:t>
            </a:r>
            <a:endParaRPr sz="2250" b="1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267200" y="389572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 closeout 验收项完成率：72/74 verified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296150" y="33718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0D8C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67600" y="35433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B89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B89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90%+</a:t>
            </a:r>
            <a:endParaRPr sz="2250" b="1">
              <a:solidFill>
                <a:srgbClr val="B89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67600" y="389572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关键路径真机/本地联调已跑通，移动端黑洞状态降为 0%</a:t>
            </a:r>
            <a:endParaRPr sz="10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095750" y="4838700"/>
            <a:ext cx="6076950" cy="685800"/>
          </a:xfrm>
          <a:prstGeom prst="roundRect">
            <a:avLst>
              <a:gd name="adj" fmla="val 11111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362450" y="5010150"/>
            <a:ext cx="556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这些数字不是为了炫工程量，而是回答评委心里的问题：这不是 PPT 公司，已经有能跑、能测、能继续迭代的系统底座。</a:t>
            </a:r>
            <a:endParaRPr sz="12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6" name="图片 25" descr="Screenshot 2026-03-31 at 17.16.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530" y="2406015"/>
            <a:ext cx="1854200" cy="3493135"/>
          </a:xfrm>
          <a:prstGeom prst="rect">
            <a:avLst/>
          </a:prstGeom>
        </p:spPr>
      </p:pic>
      <p:pic>
        <p:nvPicPr>
          <p:cNvPr id="27" name="图片 26" descr="Screenshot 2026-03-31 at 19.37.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" y="2434590"/>
            <a:ext cx="1853565" cy="3493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Team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为什么我们能做成：导师把关 + 工程型团队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这不是单点算法项目，而是产品、AI、工程、安全和验证一起推进的系统工程。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2171700"/>
            <a:ext cx="32575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4765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项目导师</a:t>
            </a:r>
            <a:endParaRPr sz="120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8384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黄亚坤</a:t>
            </a:r>
            <a:endParaRPr sz="25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3314700"/>
            <a:ext cx="247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副教授 · 博士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北京邮电大学计算机学院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国家示范性软件学院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4248150"/>
            <a:ext cx="247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负责研究方案指导、技术路线把关、实验设计与论文写作指导。</a:t>
            </a:r>
            <a:endParaRPr sz="120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76750" y="2152650"/>
            <a:ext cx="3124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86300" y="2238375"/>
            <a:ext cx="1238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产品与用户洞察</a:t>
            </a:r>
            <a:endParaRPr sz="10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2409825"/>
            <a:ext cx="2552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北极星场景、完整体验、路线规划</a:t>
            </a:r>
            <a:endParaRPr sz="86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476750" y="2743200"/>
            <a:ext cx="3124200" cy="438150"/>
          </a:xfrm>
          <a:prstGeom prst="roundRect">
            <a:avLst>
              <a:gd name="adj" fmla="val 17391"/>
            </a:avLst>
          </a:prstGeom>
          <a:solidFill>
            <a:srgbClr val="E7EBDD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86300" y="2828925"/>
            <a:ext cx="1238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系统设计</a:t>
            </a:r>
            <a:endParaRPr sz="10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86300" y="3000375"/>
            <a:ext cx="2552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Aurora、Causal Spine、知识星图</a:t>
            </a:r>
            <a:endParaRPr sz="86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476750" y="3333750"/>
            <a:ext cx="3124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686300" y="3419475"/>
            <a:ext cx="1238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后端与可信执行</a:t>
            </a:r>
            <a:endParaRPr sz="10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86300" y="3590925"/>
            <a:ext cx="2552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 AI Engine、Go Gateway、OpenClaw</a:t>
            </a:r>
            <a:endParaRPr sz="86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476750" y="3924300"/>
            <a:ext cx="3124200" cy="438150"/>
          </a:xfrm>
          <a:prstGeom prst="roundRect">
            <a:avLst>
              <a:gd name="adj" fmla="val 17391"/>
            </a:avLst>
          </a:prstGeom>
          <a:solidFill>
            <a:srgbClr val="E7EBDD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86300" y="4010025"/>
            <a:ext cx="1238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移动端体验</a:t>
            </a:r>
            <a:endParaRPr sz="10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86300" y="4181475"/>
            <a:ext cx="2552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Flutter 产品界面、任务流、社区协同</a:t>
            </a:r>
            <a:endParaRPr sz="86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76750" y="4514850"/>
            <a:ext cx="3124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86300" y="4600575"/>
            <a:ext cx="1238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验证与安全</a:t>
            </a:r>
            <a:endParaRPr sz="10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86300" y="4772025"/>
            <a:ext cx="2552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Benchmark、trace、RBAC、审计</a:t>
            </a:r>
            <a:endParaRPr sz="86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020050" y="2171700"/>
            <a:ext cx="2952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229600" y="22764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邓博仁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82100" y="23050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计算机科学与技术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29600" y="2514600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产品愿景 / 系统架构 / 核心研发</a:t>
            </a:r>
            <a:endParaRPr sz="865" b="0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020050" y="2876550"/>
            <a:ext cx="2952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229600" y="29813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张雨凝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82100" y="30099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计算机科学与技术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229600" y="3219450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产品与移动端协作</a:t>
            </a:r>
            <a:endParaRPr sz="865" b="0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8020050" y="3581400"/>
            <a:ext cx="2952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229600" y="36861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王宇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82100" y="37147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电子信息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229600" y="3924300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工程实现与测试协作</a:t>
            </a:r>
            <a:endParaRPr sz="865" b="0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8020050" y="4286250"/>
            <a:ext cx="2952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229600" y="43910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王英树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182100" y="44196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计算机科学与技术</a:t>
            </a:r>
            <a:endParaRPr sz="94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29600" y="4629150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E849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后端与验证协作</a:t>
            </a:r>
            <a:endParaRPr sz="865" b="0">
              <a:solidFill>
                <a:srgbClr val="6E849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Growth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未来：从校园救急到 AI-native Goal OS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先从最刚需、最可验证的校园考试切入，再扩展到长期学习与个人目标管理。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524000" y="2571750"/>
            <a:ext cx="781050" cy="781050"/>
          </a:xfrm>
          <a:prstGeom prst="ellipse">
            <a:avLst/>
          </a:prstGeom>
          <a:solidFill>
            <a:srgbClr val="C46F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790700" y="27813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9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67665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北邮试点</a:t>
            </a:r>
            <a:endParaRPr sz="18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40576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天救急 / 课程场景验证 PMF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38400" y="2952750"/>
            <a:ext cx="11239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248150" y="2571750"/>
            <a:ext cx="781050" cy="781050"/>
          </a:xfrm>
          <a:prstGeom prst="ellipse">
            <a:avLst/>
          </a:prstGeom>
          <a:solidFill>
            <a:srgbClr val="E7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7813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9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81400" y="367665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多高校复制</a:t>
            </a:r>
            <a:endParaRPr sz="18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76650" y="40576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期末、竞赛、考研等高压目标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162550" y="2952750"/>
            <a:ext cx="11239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6972300" y="2571750"/>
            <a:ext cx="781050" cy="781050"/>
          </a:xfrm>
          <a:prstGeom prst="ellipse">
            <a:avLst/>
          </a:prstGeom>
          <a:solidFill>
            <a:srgbClr val="E7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27813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9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05550" y="367665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机构合作</a:t>
            </a:r>
            <a:endParaRPr sz="18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40576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课程体系、班级辅导、导师减负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86700" y="2952750"/>
            <a:ext cx="11239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696450" y="2571750"/>
            <a:ext cx="781050" cy="781050"/>
          </a:xfrm>
          <a:prstGeom prst="ellipse">
            <a:avLst/>
          </a:prstGeom>
          <a:solidFill>
            <a:srgbClr val="E7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963150" y="27813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950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29700" y="367665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Goal OS</a:t>
            </a:r>
            <a:endParaRPr sz="18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24950" y="40576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从学习扩展到个人成长目标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466850" y="5124450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752600" y="53530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 端订阅</a:t>
            </a:r>
            <a:endParaRPr sz="17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43250" y="53149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学生为高频刚需与关键节点付费：考试救急、长期计划、复习资产。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10350" y="5124450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896100" y="53530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 端合作</a:t>
            </a:r>
            <a:endParaRPr sz="17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286750" y="53149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与高校、课程团队、教育机构合作：个性化辅导、学习数据与导师减负。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V2 Roadshow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0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81050" y="781050"/>
            <a:ext cx="2190750" cy="4762500"/>
          </a:xfrm>
          <a:prstGeom prst="roundRect">
            <a:avLst>
              <a:gd name="adj" fmla="val 3478"/>
            </a:avLst>
          </a:prstGeom>
          <a:solidFill>
            <a:srgbClr val="172027"/>
          </a:solidFill>
          <a:ln w="9525">
            <a:solidFill>
              <a:srgbClr val="0E141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95350" y="895350"/>
            <a:ext cx="1962150" cy="45339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2D3840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2855" r="12855"/>
          <a:stretch>
            <a:fillRect/>
          </a:stretch>
        </p:blipFill>
        <p:spPr>
          <a:xfrm>
            <a:off x="952500" y="952500"/>
            <a:ext cx="1847850" cy="44196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3714750" y="11239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2D8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F2D8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回到那个学生</a:t>
            </a:r>
            <a:endParaRPr sz="2550" b="1">
              <a:solidFill>
                <a:srgbClr val="F2D8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714750" y="1962150"/>
            <a:ext cx="6572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天前，他面对计网考试，基本没学。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14750" y="26098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天后，他通过了。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714750" y="3371850"/>
            <a:ext cx="666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D9E2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D9E2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不是因为 Sparkle 比他聪明，</a:t>
            </a:r>
            <a:endParaRPr sz="2025" b="0">
              <a:solidFill>
                <a:srgbClr val="D9E2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025" b="0">
                <a:solidFill>
                  <a:srgbClr val="D9E2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D9E2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而是因为 Sparkle 帮他做了那些他不知道该怎么做的决策。</a:t>
            </a:r>
            <a:endParaRPr sz="2025" b="0">
              <a:solidFill>
                <a:srgbClr val="D9E2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714750" y="4572000"/>
            <a:ext cx="5905500" cy="9525"/>
          </a:xfrm>
          <a:prstGeom prst="rect">
            <a:avLst/>
          </a:prstGeom>
          <a:solidFill>
            <a:srgbClr val="536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714750" y="4914900"/>
            <a:ext cx="676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D8D0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D8D0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我们相信：能不能做成事，不应该取决于你多会用 AI、多会做计划、多有钱请私教。</a:t>
            </a:r>
            <a:endParaRPr sz="1575" b="1">
              <a:solidFill>
                <a:srgbClr val="D8D0C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14750" y="558165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让普通人第一次就能走进自己的目标路径。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 · Thank you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A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社群不是聊天广场，而是目标推进结构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责任伙伴、冲刺小组和 check-in 机制补足纯 AI 的执行弱点。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7250" y="2419350"/>
            <a:ext cx="4572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5850" y="2686050"/>
            <a:ext cx="342900" cy="3429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638300" y="26479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责任伙伴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38300" y="2971800"/>
            <a:ext cx="323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互相见证目标、提醒关键节点、降低中途放弃概率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91250" y="2419350"/>
            <a:ext cx="4572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9850" y="2686050"/>
            <a:ext cx="342900" cy="3429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6972300" y="26479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冲刺小组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72300" y="2971800"/>
            <a:ext cx="323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围绕考试/竞赛 deadline 形成短期协同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57250" y="3848100"/>
            <a:ext cx="4572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50" y="4114800"/>
            <a:ext cx="342900" cy="3429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1638300" y="40767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群聊与打卡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38300" y="4400550"/>
            <a:ext cx="323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把执行证据沉淀为可追踪事件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91250" y="3848100"/>
            <a:ext cx="4572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9850" y="4114800"/>
            <a:ext cx="342900" cy="3429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972300" y="40767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社群引入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972300" y="4400550"/>
            <a:ext cx="323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从个人任务扩展到班级、课程、机构协作</a:t>
            </a:r>
            <a:endParaRPr sz="120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D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B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安全与可追溯：AI 建议必须能被信任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关键决策要有 trace、receipt、纠正与回滚机制。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14400" y="2714625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480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Decision Trace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344805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8D0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0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为什么建议先救 TCP</a:t>
            </a:r>
            <a:endParaRPr sz="1125" b="0">
              <a:solidFill>
                <a:srgbClr val="D8D0C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2300" y="3333750"/>
            <a:ext cx="285750" cy="28575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3600450" y="2714625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10000" y="30480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Context Receipt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10000" y="344805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用了哪些资料和用户状态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8350" y="3333750"/>
            <a:ext cx="285750" cy="28575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6286500" y="2714625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30480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User Correction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96050" y="344805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用户可纠正：不是没时间，是不会做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4400" y="3333750"/>
            <a:ext cx="285750" cy="285750"/>
          </a:xfrm>
          <a:prstGeom prst="rect">
            <a:avLst/>
          </a:prstGeom>
        </p:spPr>
      </p:pic>
      <p:sp>
        <p:nvSpPr>
          <p:cNvPr id="20" name="圆角矩形 19"/>
          <p:cNvSpPr>
            <a:spLocks noGrp="1"/>
          </p:cNvSpPr>
          <p:nvPr/>
        </p:nvSpPr>
        <p:spPr>
          <a:xfrm>
            <a:off x="8972550" y="2714625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82100" y="30480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Policy Guard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82100" y="344805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RBAC / kill switch / 审计日志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809750" y="50673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可信不是“我们保证不出错”，而是出错时能看见、能纠正、能把系统带回正确轨道。</a:t>
            </a:r>
            <a:endParaRPr sz="172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C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Aurora：自适应认知控制层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把裸模型调用变成带目标、状态、偏好、资料与反馈的 harness。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619250" y="2209800"/>
            <a:ext cx="1905000" cy="400050"/>
          </a:xfrm>
          <a:prstGeom prst="roundRect">
            <a:avLst>
              <a:gd name="adj" fmla="val 19048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809750" y="2314575"/>
            <a:ext cx="152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0" y="2209800"/>
            <a:ext cx="6191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248150" y="2314575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 / deadline / 用户情绪 / 当前资料</a:t>
            </a:r>
            <a:endParaRPr sz="120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619250" y="2838450"/>
            <a:ext cx="1905000" cy="400050"/>
          </a:xfrm>
          <a:prstGeom prst="roundRect">
            <a:avLst>
              <a:gd name="adj" fmla="val 19048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809750" y="2943225"/>
            <a:ext cx="152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000500" y="2838450"/>
            <a:ext cx="6191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248150" y="2943225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多层用户模型 + 场景模式识别</a:t>
            </a:r>
            <a:endParaRPr sz="120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619250" y="3467100"/>
            <a:ext cx="1905000" cy="400050"/>
          </a:xfrm>
          <a:prstGeom prst="roundRect">
            <a:avLst>
              <a:gd name="adj" fmla="val 19048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09750" y="3571875"/>
            <a:ext cx="152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000500" y="3467100"/>
            <a:ext cx="6191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248150" y="3571875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诊断、取舍、任务粒度、模型路由</a:t>
            </a:r>
            <a:endParaRPr sz="120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619250" y="4095750"/>
            <a:ext cx="1905000" cy="400050"/>
          </a:xfrm>
          <a:prstGeom prst="roundRect">
            <a:avLst>
              <a:gd name="adj" fmla="val 19048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809750" y="4200525"/>
            <a:ext cx="152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000500" y="4095750"/>
            <a:ext cx="6191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248150" y="4200525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任务卡、解释、追问、下一步</a:t>
            </a:r>
            <a:endParaRPr sz="120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619250" y="4724400"/>
            <a:ext cx="1905000" cy="400050"/>
          </a:xfrm>
          <a:prstGeom prst="roundRect">
            <a:avLst>
              <a:gd name="adj" fmla="val 19048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09750" y="4829175"/>
            <a:ext cx="152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000500" y="4724400"/>
            <a:ext cx="6191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248150" y="4829175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结果、错因、纠正、trace 回写</a:t>
            </a:r>
            <a:endParaRPr sz="1200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D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D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知识星图：个人知识库不是笔记堆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它记录掌握度、证据、错因和迁移关系。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53150" y="379095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2686050"/>
            <a:ext cx="1752600" cy="1104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53150" y="2686050"/>
            <a:ext cx="1390650" cy="1104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53150" y="3790950"/>
            <a:ext cx="1771650" cy="685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19550" y="3790950"/>
            <a:ext cx="2133600" cy="742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972175" y="3790950"/>
            <a:ext cx="180975" cy="134302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5715000" y="3352800"/>
            <a:ext cx="876300" cy="876300"/>
          </a:xfrm>
          <a:prstGeom prst="ellipse">
            <a:avLst/>
          </a:prstGeom>
          <a:solidFill>
            <a:srgbClr val="1720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753100" y="36957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TCP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4095750" y="2381250"/>
            <a:ext cx="609600" cy="609600"/>
          </a:xfrm>
          <a:prstGeom prst="ellipse">
            <a:avLst/>
          </a:prstGeom>
          <a:solidFill>
            <a:srgbClr val="6E84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133850" y="25908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可靠传输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239000" y="2381250"/>
            <a:ext cx="609600" cy="609600"/>
          </a:xfrm>
          <a:prstGeom prst="ellipse">
            <a:avLst/>
          </a:prstGeom>
          <a:solidFill>
            <a:srgbClr val="7D8B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77100" y="25908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拥塞控制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620000" y="4171950"/>
            <a:ext cx="609600" cy="609600"/>
          </a:xfrm>
          <a:prstGeom prst="ellipse">
            <a:avLst/>
          </a:prstGeom>
          <a:solidFill>
            <a:srgbClr val="C46F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3815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差错检测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3714750" y="4229100"/>
            <a:ext cx="609600" cy="609600"/>
          </a:xfrm>
          <a:prstGeom prst="ellipse">
            <a:avLst/>
          </a:prstGeom>
          <a:solidFill>
            <a:srgbClr val="B89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752850" y="44386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子网划分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715000" y="4876800"/>
            <a:ext cx="514350" cy="514350"/>
          </a:xfrm>
          <a:prstGeom prst="ellipse">
            <a:avLst/>
          </a:prstGeom>
          <a:solidFill>
            <a:srgbClr val="B9B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753100" y="50387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应用层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76300" y="2647950"/>
            <a:ext cx="21907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23950" y="2914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每个节点包含</a:t>
            </a:r>
            <a:endParaRPr sz="16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23950" y="3333750"/>
            <a:ext cx="1619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掌握证据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错因记录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资料来源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下一步任务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可迁移策略</a:t>
            </a:r>
            <a:endParaRPr sz="12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E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Extraction：从一次成功中提取可复用方法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系统不是只记住结果，而是提取策略信念并进入 Learning Base。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8610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3333750"/>
            <a:ext cx="1409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Episode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36766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一次任务/考试过程</a:t>
            </a:r>
            <a:endParaRPr sz="9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3486150"/>
            <a:ext cx="266700" cy="26670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3067050" y="308610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200400" y="3333750"/>
            <a:ext cx="1409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Evidence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19450" y="36766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结果、错因、纠正</a:t>
            </a:r>
            <a:endParaRPr sz="9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7750" y="3486150"/>
            <a:ext cx="266700" cy="26670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5257800" y="308610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F2D8C9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91150" y="3333750"/>
            <a:ext cx="1409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 Belief</a:t>
            </a:r>
            <a:endParaRPr sz="1350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410200" y="36766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形成策略信念</a:t>
            </a:r>
            <a:endParaRPr sz="9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0" y="3486150"/>
            <a:ext cx="266700" cy="266700"/>
          </a:xfrm>
          <a:prstGeom prst="rect">
            <a:avLst/>
          </a:prstGeom>
        </p:spPr>
      </p:pic>
      <p:sp>
        <p:nvSpPr>
          <p:cNvPr id="20" name="圆角矩形 19"/>
          <p:cNvSpPr>
            <a:spLocks noGrp="1"/>
          </p:cNvSpPr>
          <p:nvPr/>
        </p:nvSpPr>
        <p:spPr>
          <a:xfrm>
            <a:off x="7448550" y="308610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581900" y="3333750"/>
            <a:ext cx="1409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Learning Base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00950" y="36766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跨目标复用</a:t>
            </a:r>
            <a:endParaRPr sz="9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9250" y="3486150"/>
            <a:ext cx="266700" cy="266700"/>
          </a:xfrm>
          <a:prstGeom prst="rect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9639300" y="308610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72650" y="3333750"/>
            <a:ext cx="1409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Next Goal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91700" y="36766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自动推荐</a:t>
            </a:r>
            <a:endParaRPr sz="97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19250" y="502920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例：计网中验证有效的“先练真题再补理论”，下次数据库考试会成为优先策略候选。</a:t>
            </a:r>
            <a:endParaRPr sz="16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D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F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MirrorFish / 多 Agent 推演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用模拟世界和角色代理提前压力测试策略，而不是只靠真实用户试错。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428750" y="2247900"/>
            <a:ext cx="2095500" cy="514350"/>
          </a:xfrm>
          <a:prstGeom prst="roundRect">
            <a:avLst>
              <a:gd name="adj" fmla="val 14815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714500" y="24098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目标世界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0" y="2247900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286250" y="2409825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GoalWorldGraph 定义目标、约束、路径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428750" y="3067050"/>
            <a:ext cx="2095500" cy="514350"/>
          </a:xfrm>
          <a:prstGeom prst="roundRect">
            <a:avLst>
              <a:gd name="adj" fmla="val 14815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714500" y="32289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角色代理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000500" y="3067050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286250" y="3228975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学生、导师、系统、责任伙伴多角色交互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428750" y="3886200"/>
            <a:ext cx="2095500" cy="514350"/>
          </a:xfrm>
          <a:prstGeom prst="roundRect">
            <a:avLst>
              <a:gd name="adj" fmla="val 14815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714500" y="40481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推演结果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000500" y="3886200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286250" y="4048125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发现冲突、风险和失败路径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428750" y="4705350"/>
            <a:ext cx="2095500" cy="514350"/>
          </a:xfrm>
          <a:prstGeom prst="roundRect">
            <a:avLst>
              <a:gd name="adj" fmla="val 14815"/>
            </a:avLst>
          </a:prstGeom>
          <a:solidFill>
            <a:srgbClr val="1720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14500" y="48672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策略修正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000500" y="4705350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286250" y="4867275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回写计划、提示词、任务模板</a:t>
            </a:r>
            <a:endParaRPr sz="1275" b="0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G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技术架构：模型能力之外，是一套目标实现系统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 AI Engine、Go Gateway、Flutter、数据库、可信执行和多模型路由协同。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7250" y="2476500"/>
            <a:ext cx="2190750" cy="895350"/>
          </a:xfrm>
          <a:prstGeom prst="roundRect">
            <a:avLst>
              <a:gd name="adj" fmla="val 8511"/>
            </a:avLst>
          </a:prstGeom>
          <a:solidFill>
            <a:srgbClr val="DDE7EC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724150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Flutter Mobile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333750" y="2476500"/>
            <a:ext cx="2190750" cy="895350"/>
          </a:xfrm>
          <a:prstGeom prst="roundRect">
            <a:avLst>
              <a:gd name="adj" fmla="val 8511"/>
            </a:avLst>
          </a:prstGeom>
          <a:solidFill>
            <a:srgbClr val="E7EBDD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505200" y="2724150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Go Gateway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WebSocket / HTTP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810250" y="2476500"/>
            <a:ext cx="2190750" cy="895350"/>
          </a:xfrm>
          <a:prstGeom prst="roundRect">
            <a:avLst>
              <a:gd name="adj" fmla="val 8511"/>
            </a:avLst>
          </a:prstGeom>
          <a:solidFill>
            <a:srgbClr val="F2D8C9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981700" y="2724150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 AI Engine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 / Causal Spine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86750" y="2476500"/>
            <a:ext cx="21907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58200" y="2724150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Data Layer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PostgreSQL / Redis / Trace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810250" y="4333875"/>
            <a:ext cx="21907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981700" y="4581525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Model Router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DeepSeek / OpenAI / others</a:t>
            </a:r>
            <a:endParaRPr sz="135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8950" y="2781300"/>
            <a:ext cx="266700" cy="2667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5450" y="2781300"/>
            <a:ext cx="266700" cy="2667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950" y="2781300"/>
            <a:ext cx="266700" cy="2667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2750" y="3505200"/>
            <a:ext cx="266700" cy="2667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809750" y="577215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技术架构图放附录，主线只讲用户能感知到的结果；答辩时再展开每层如何支撑闭环。</a:t>
            </a:r>
            <a:endParaRPr sz="15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D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 H</a:t>
            </a:r>
            <a:endParaRPr sz="11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2390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工程验证详情</a:t>
            </a:r>
            <a:endParaRPr sz="2775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907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把“我们做出来了”从口号变成可检查的进展。</a:t>
            </a:r>
            <a:endParaRPr sz="1350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Appendix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477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8F8A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825" b="0">
              <a:solidFill>
                <a:srgbClr val="8F8A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47750" y="2133600"/>
            <a:ext cx="10096500" cy="476250"/>
          </a:xfrm>
          <a:prstGeom prst="roundRect">
            <a:avLst>
              <a:gd name="adj" fmla="val 16000"/>
            </a:avLst>
          </a:prstGeom>
          <a:solidFill>
            <a:srgbClr val="FBFAF5"/>
          </a:solidFill>
          <a:ln w="9525">
            <a:solidFill>
              <a:srgbClr val="E1D9C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276475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SparkleGoalBench</a:t>
            </a:r>
            <a:endParaRPr sz="12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95750" y="22574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24/24</a:t>
            </a:r>
            <a:endParaRPr sz="14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276475"/>
            <a:ext cx="419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覆盖极端目标场景与闭环路径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47750" y="2781300"/>
            <a:ext cx="10096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D9C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2924175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ExamSprintBench</a:t>
            </a:r>
            <a:endParaRPr sz="12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95750" y="29051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C46F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12/12</a:t>
            </a:r>
            <a:endParaRPr sz="1425" b="1">
              <a:solidFill>
                <a:srgbClr val="C46F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2924175"/>
            <a:ext cx="419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考试冲刺核心路径通过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47750" y="3429000"/>
            <a:ext cx="10096500" cy="476250"/>
          </a:xfrm>
          <a:prstGeom prst="roundRect">
            <a:avLst>
              <a:gd name="adj" fmla="val 16000"/>
            </a:avLst>
          </a:prstGeom>
          <a:solidFill>
            <a:srgbClr val="FBFAF5"/>
          </a:solidFill>
          <a:ln w="9525">
            <a:solidFill>
              <a:srgbClr val="E1D9C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3571875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Aurora Closeout</a:t>
            </a:r>
            <a:endParaRPr sz="12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95750" y="35528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72/74</a:t>
            </a:r>
            <a:endParaRPr sz="14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3571875"/>
            <a:ext cx="419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97.3% 验收项 verified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47750" y="4076700"/>
            <a:ext cx="10096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D9C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33500" y="4219575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移动端黑洞</a:t>
            </a:r>
            <a:endParaRPr sz="12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95750" y="42005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0%</a:t>
            </a:r>
            <a:endParaRPr sz="14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4219575"/>
            <a:ext cx="419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关键启动/回退状态已收敛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47750" y="4724400"/>
            <a:ext cx="10096500" cy="476250"/>
          </a:xfrm>
          <a:prstGeom prst="roundRect">
            <a:avLst>
              <a:gd name="adj" fmla="val 16000"/>
            </a:avLst>
          </a:prstGeom>
          <a:solidFill>
            <a:srgbClr val="FBFAF5"/>
          </a:solidFill>
          <a:ln w="9525">
            <a:solidFill>
              <a:srgbClr val="E1D9C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333500" y="4867275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E24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安全机制</a:t>
            </a:r>
            <a:endParaRPr sz="1200" b="1">
              <a:solidFill>
                <a:srgbClr val="1E24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95750" y="47720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557A6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RBAC / trace / kill switch</a:t>
            </a:r>
            <a:endParaRPr sz="1425" b="1">
              <a:solidFill>
                <a:srgbClr val="557A6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4867275"/>
            <a:ext cx="419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871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访问控制、追踪、开关与审计</a:t>
            </a:r>
            <a:endParaRPr sz="1125" b="0">
              <a:solidFill>
                <a:srgbClr val="6871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4294</Words>
  <Application>WPS 演示</Application>
  <PresentationFormat>Converted Presentation</PresentationFormat>
  <Paragraphs>672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brsama</cp:lastModifiedBy>
  <cp:revision>2</cp:revision>
  <dcterms:created xsi:type="dcterms:W3CDTF">2026-05-07T12:57:29Z</dcterms:created>
  <dcterms:modified xsi:type="dcterms:W3CDTF">2026-05-07T12:57:29Z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C8837BB4261046BC7E8BFC69449ABFB4_42</vt:lpwstr>
  </property>
</Properties>
</file>